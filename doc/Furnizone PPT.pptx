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58" r:id="rId3"/>
    <p:sldId id="259" r:id="rId4"/>
    <p:sldId id="282" r:id="rId5"/>
    <p:sldId id="296" r:id="rId6"/>
    <p:sldId id="302" r:id="rId7"/>
    <p:sldId id="299" r:id="rId8"/>
    <p:sldId id="303" r:id="rId9"/>
    <p:sldId id="304" r:id="rId10"/>
    <p:sldId id="306" r:id="rId11"/>
    <p:sldId id="309" r:id="rId12"/>
    <p:sldId id="307" r:id="rId13"/>
    <p:sldId id="308" r:id="rId14"/>
    <p:sldId id="261" r:id="rId15"/>
    <p:sldId id="262" r:id="rId16"/>
    <p:sldId id="284" r:id="rId17"/>
    <p:sldId id="285" r:id="rId18"/>
    <p:sldId id="286" r:id="rId19"/>
    <p:sldId id="287" r:id="rId20"/>
    <p:sldId id="288" r:id="rId21"/>
    <p:sldId id="289" r:id="rId22"/>
    <p:sldId id="290" r:id="rId23"/>
    <p:sldId id="291" r:id="rId24"/>
    <p:sldId id="292" r:id="rId25"/>
    <p:sldId id="293" r:id="rId26"/>
    <p:sldId id="294" r:id="rId27"/>
    <p:sldId id="305" r:id="rId28"/>
    <p:sldId id="283" r:id="rId29"/>
    <p:sldId id="269" r:id="rId30"/>
    <p:sldId id="271" r:id="rId31"/>
  </p:sldIdLst>
  <p:sldSz cx="18288000" cy="10287000"/>
  <p:notesSz cx="6858000" cy="9144000"/>
  <p:embeddedFontLst>
    <p:embeddedFont>
      <p:font typeface="Bookman Old Style" panose="02050604050505020204" pitchFamily="18" charset="0"/>
      <p:regular r:id="rId33"/>
      <p:bold r:id="rId34"/>
      <p:italic r:id="rId35"/>
      <p:boldItalic r:id="rId36"/>
    </p:embeddedFont>
    <p:embeddedFont>
      <p:font typeface="TT Corals"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9435" autoAdjust="0"/>
  </p:normalViewPr>
  <p:slideViewPr>
    <p:cSldViewPr>
      <p:cViewPr varScale="1">
        <p:scale>
          <a:sx n="49" d="100"/>
          <a:sy n="49" d="100"/>
        </p:scale>
        <p:origin x="1066"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1505BE-3835-4B07-BC66-114F6F1FA95D}" type="datetimeFigureOut">
              <a:rPr lang="en-US" smtClean="0"/>
              <a:pPr/>
              <a:t>12/11/2025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1C83EA-BC32-4EBC-A3D2-FF2A2BB8869A}" type="slidenum">
              <a:rPr lang="en-US" smtClean="0"/>
              <a:pPr/>
              <a:t>‹#›</a:t>
            </a:fld>
            <a:endParaRPr lang="en-US"/>
          </a:p>
        </p:txBody>
      </p:sp>
    </p:spTree>
    <p:extLst>
      <p:ext uri="{BB962C8B-B14F-4D97-AF65-F5344CB8AC3E}">
        <p14:creationId xmlns:p14="http://schemas.microsoft.com/office/powerpoint/2010/main" val="3227599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2F753-EBD1-17AD-9C3B-F31069853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FFD22-1228-4C7D-A4CA-A87AB3C10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E079E-AD90-0DC4-597B-3BCE9843D7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8F7BDF-9541-5AEF-173E-D0F7580AF89F}"/>
              </a:ext>
            </a:extLst>
          </p:cNvPr>
          <p:cNvSpPr>
            <a:spLocks noGrp="1"/>
          </p:cNvSpPr>
          <p:nvPr>
            <p:ph type="sldNum" sz="quarter" idx="5"/>
          </p:nvPr>
        </p:nvSpPr>
        <p:spPr/>
        <p:txBody>
          <a:bodyPr/>
          <a:lstStyle/>
          <a:p>
            <a:fld id="{DB1C83EA-BC32-4EBC-A3D2-FF2A2BB8869A}" type="slidenum">
              <a:rPr lang="en-US" smtClean="0"/>
              <a:pPr/>
              <a:t>11</a:t>
            </a:fld>
            <a:endParaRPr lang="en-US"/>
          </a:p>
        </p:txBody>
      </p:sp>
    </p:spTree>
    <p:extLst>
      <p:ext uri="{BB962C8B-B14F-4D97-AF65-F5344CB8AC3E}">
        <p14:creationId xmlns:p14="http://schemas.microsoft.com/office/powerpoint/2010/main" val="705223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1C83EA-BC32-4EBC-A3D2-FF2A2BB8869A}" type="slidenum">
              <a:rPr lang="en-US" smtClean="0"/>
              <a:pPr/>
              <a:t>13</a:t>
            </a:fld>
            <a:endParaRPr lang="en-US"/>
          </a:p>
        </p:txBody>
      </p:sp>
    </p:spTree>
    <p:extLst>
      <p:ext uri="{BB962C8B-B14F-4D97-AF65-F5344CB8AC3E}">
        <p14:creationId xmlns:p14="http://schemas.microsoft.com/office/powerpoint/2010/main" val="3516393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B1C83EA-BC32-4EBC-A3D2-FF2A2BB8869A}" type="slidenum">
              <a:rPr lang="en-US" smtClean="0"/>
              <a:pPr/>
              <a:t>28</a:t>
            </a:fld>
            <a:endParaRPr lang="en-US"/>
          </a:p>
        </p:txBody>
      </p:sp>
    </p:spTree>
    <p:extLst>
      <p:ext uri="{BB962C8B-B14F-4D97-AF65-F5344CB8AC3E}">
        <p14:creationId xmlns:p14="http://schemas.microsoft.com/office/powerpoint/2010/main" val="2123575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svg"/><Relationship Id="rId10" Type="http://schemas.openxmlformats.org/officeDocument/2006/relationships/image" Target="../media/image9.jp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jp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1.jpg"/></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37.jpeg"/><Relationship Id="rId4" Type="http://schemas.openxmlformats.org/officeDocument/2006/relationships/image" Target="../media/image36.jpeg"/></Relationships>
</file>

<file path=ppt/slides/_rels/slide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2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2.svg"/></Relationships>
</file>

<file path=ppt/slides/_rels/slide29.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2" name="Freeform 2"/>
          <p:cNvSpPr/>
          <p:nvPr/>
        </p:nvSpPr>
        <p:spPr>
          <a:xfrm>
            <a:off x="-167899" y="3116738"/>
            <a:ext cx="18744489" cy="737344"/>
          </a:xfrm>
          <a:custGeom>
            <a:avLst/>
            <a:gdLst/>
            <a:ahLst/>
            <a:cxnLst/>
            <a:rect l="l" t="t" r="r" b="b"/>
            <a:pathLst>
              <a:path w="18744489" h="737344">
                <a:moveTo>
                  <a:pt x="0" y="0"/>
                </a:moveTo>
                <a:lnTo>
                  <a:pt x="18744489" y="0"/>
                </a:lnTo>
                <a:lnTo>
                  <a:pt x="18744489" y="737344"/>
                </a:lnTo>
                <a:lnTo>
                  <a:pt x="0" y="737344"/>
                </a:lnTo>
                <a:lnTo>
                  <a:pt x="0" y="0"/>
                </a:lnTo>
                <a:close/>
              </a:path>
            </a:pathLst>
          </a:custGeom>
          <a:blipFill>
            <a:blip r:embed="rId2" cstate="print">
              <a:extLst>
                <a:ext uri="{96DAC541-7B7A-43D3-8B79-37D633B846F1}">
                  <asvg:svgBlip xmlns:asvg="http://schemas.microsoft.com/office/drawing/2016/SVG/main" r:embed="rId3"/>
                </a:ext>
              </a:extLst>
            </a:blip>
            <a:stretch>
              <a:fillRect b="-2419052"/>
            </a:stretch>
          </a:blipFill>
          <a:ln cap="sq">
            <a:noFill/>
            <a:prstDash val="solid"/>
            <a:miter/>
          </a:ln>
        </p:spPr>
        <p:txBody>
          <a:bodyPr/>
          <a:lstStyle/>
          <a:p>
            <a:pPr lvl="0" algn="ctr">
              <a:buClr>
                <a:srgbClr val="000000"/>
              </a:buClr>
              <a:buSzPts val="1200"/>
            </a:pPr>
            <a:endParaRPr lang="en-US" sz="3600" dirty="0"/>
          </a:p>
        </p:txBody>
      </p:sp>
      <p:sp>
        <p:nvSpPr>
          <p:cNvPr id="3" name="Freeform 3"/>
          <p:cNvSpPr/>
          <p:nvPr/>
        </p:nvSpPr>
        <p:spPr>
          <a:xfrm>
            <a:off x="-167899" y="7053611"/>
            <a:ext cx="18744489" cy="737344"/>
          </a:xfrm>
          <a:custGeom>
            <a:avLst/>
            <a:gdLst/>
            <a:ahLst/>
            <a:cxnLst/>
            <a:rect l="l" t="t" r="r" b="b"/>
            <a:pathLst>
              <a:path w="18744489" h="737344">
                <a:moveTo>
                  <a:pt x="0" y="0"/>
                </a:moveTo>
                <a:lnTo>
                  <a:pt x="18744489" y="0"/>
                </a:lnTo>
                <a:lnTo>
                  <a:pt x="18744489" y="737345"/>
                </a:lnTo>
                <a:lnTo>
                  <a:pt x="0" y="737345"/>
                </a:lnTo>
                <a:lnTo>
                  <a:pt x="0" y="0"/>
                </a:lnTo>
                <a:close/>
              </a:path>
            </a:pathLst>
          </a:custGeom>
          <a:blipFill>
            <a:blip r:embed="rId4" cstate="print">
              <a:extLst>
                <a:ext uri="{96DAC541-7B7A-43D3-8B79-37D633B846F1}">
                  <asvg:svgBlip xmlns:asvg="http://schemas.microsoft.com/office/drawing/2016/SVG/main" r:embed="rId5"/>
                </a:ext>
              </a:extLst>
            </a:blip>
            <a:stretch>
              <a:fillRect b="-2419052"/>
            </a:stretch>
          </a:blipFill>
          <a:ln cap="sq">
            <a:noFill/>
            <a:prstDash val="solid"/>
            <a:miter/>
          </a:ln>
        </p:spPr>
      </p:sp>
      <p:sp>
        <p:nvSpPr>
          <p:cNvPr id="4" name="TextBox 4"/>
          <p:cNvSpPr txBox="1"/>
          <p:nvPr/>
        </p:nvSpPr>
        <p:spPr>
          <a:xfrm>
            <a:off x="7359739" y="1551412"/>
            <a:ext cx="5266617" cy="2570640"/>
          </a:xfrm>
          <a:prstGeom prst="rect">
            <a:avLst/>
          </a:prstGeom>
        </p:spPr>
        <p:txBody>
          <a:bodyPr wrap="square" lIns="0" tIns="0" rIns="0" bIns="0" rtlCol="0" anchor="t">
            <a:spAutoFit/>
          </a:bodyPr>
          <a:lstStyle/>
          <a:p>
            <a:pPr marL="0" lvl="0" indent="0">
              <a:lnSpc>
                <a:spcPts val="24073"/>
              </a:lnSpc>
              <a:spcBef>
                <a:spcPct val="0"/>
              </a:spcBef>
            </a:pPr>
            <a:r>
              <a:rPr lang="en-US" sz="8000" u="none" strike="noStrike" dirty="0" err="1">
                <a:solidFill>
                  <a:srgbClr val="423830"/>
                </a:solidFill>
                <a:latin typeface="Bookman Old Style" pitchFamily="18" charset="0"/>
              </a:rPr>
              <a:t>FurniZone</a:t>
            </a:r>
            <a:endParaRPr lang="en-US" sz="8000" u="none" strike="noStrike" dirty="0">
              <a:solidFill>
                <a:srgbClr val="423830"/>
              </a:solidFill>
              <a:latin typeface="Bookman Old Style" pitchFamily="18" charset="0"/>
            </a:endParaRPr>
          </a:p>
        </p:txBody>
      </p:sp>
      <p:grpSp>
        <p:nvGrpSpPr>
          <p:cNvPr id="5" name="Group 5"/>
          <p:cNvGrpSpPr/>
          <p:nvPr/>
        </p:nvGrpSpPr>
        <p:grpSpPr>
          <a:xfrm>
            <a:off x="13205996" y="6185597"/>
            <a:ext cx="5082004" cy="4556121"/>
            <a:chOff x="0" y="0"/>
            <a:chExt cx="6776005" cy="6074828"/>
          </a:xfrm>
        </p:grpSpPr>
        <p:pic>
          <p:nvPicPr>
            <p:cNvPr id="6" name="Picture 6"/>
            <p:cNvPicPr>
              <a:picLocks noChangeAspect="1"/>
            </p:cNvPicPr>
            <p:nvPr/>
          </p:nvPicPr>
          <p:blipFill>
            <a:blip r:embed="rId6" cstate="print"/>
            <a:srcRect l="42677" t="43545" r="15342"/>
            <a:stretch>
              <a:fillRect/>
            </a:stretch>
          </p:blipFill>
          <p:spPr>
            <a:xfrm>
              <a:off x="0" y="0"/>
              <a:ext cx="6776005" cy="6074828"/>
            </a:xfrm>
            <a:prstGeom prst="rect">
              <a:avLst/>
            </a:prstGeom>
          </p:spPr>
        </p:pic>
      </p:grpSp>
      <p:sp>
        <p:nvSpPr>
          <p:cNvPr id="7" name="Freeform 7"/>
          <p:cNvSpPr/>
          <p:nvPr/>
        </p:nvSpPr>
        <p:spPr>
          <a:xfrm>
            <a:off x="3505200" y="-159161"/>
            <a:ext cx="3144809" cy="3352270"/>
          </a:xfrm>
          <a:custGeom>
            <a:avLst/>
            <a:gdLst/>
            <a:ahLst/>
            <a:cxnLst/>
            <a:rect l="l" t="t" r="r" b="b"/>
            <a:pathLst>
              <a:path w="3746837" h="4303717">
                <a:moveTo>
                  <a:pt x="0" y="0"/>
                </a:moveTo>
                <a:lnTo>
                  <a:pt x="3746837" y="0"/>
                </a:lnTo>
                <a:lnTo>
                  <a:pt x="3746837" y="4303716"/>
                </a:lnTo>
                <a:lnTo>
                  <a:pt x="0" y="4303716"/>
                </a:lnTo>
                <a:lnTo>
                  <a:pt x="0" y="0"/>
                </a:lnTo>
                <a:close/>
              </a:path>
            </a:pathLst>
          </a:custGeom>
          <a:blipFill>
            <a:blip r:embed="rId7" cstate="print"/>
            <a:stretch>
              <a:fillRect l="-208378" r="-467585" b="-350372"/>
            </a:stretch>
          </a:blipFill>
        </p:spPr>
      </p:sp>
      <p:sp>
        <p:nvSpPr>
          <p:cNvPr id="11" name="TextBox 11"/>
          <p:cNvSpPr txBox="1"/>
          <p:nvPr/>
        </p:nvSpPr>
        <p:spPr>
          <a:xfrm>
            <a:off x="1245019" y="8776970"/>
            <a:ext cx="6991378" cy="478464"/>
          </a:xfrm>
          <a:prstGeom prst="rect">
            <a:avLst/>
          </a:prstGeom>
        </p:spPr>
        <p:txBody>
          <a:bodyPr lIns="0" tIns="0" rIns="0" bIns="0" rtlCol="0" anchor="t">
            <a:spAutoFit/>
          </a:bodyPr>
          <a:lstStyle/>
          <a:p>
            <a:pPr>
              <a:lnSpc>
                <a:spcPts val="3919"/>
              </a:lnSpc>
            </a:pPr>
            <a:r>
              <a:rPr lang="en-US" sz="2799" dirty="0">
                <a:solidFill>
                  <a:srgbClr val="423830"/>
                </a:solidFill>
                <a:latin typeface="TT Corals"/>
              </a:rPr>
              <a:t>2025 | Comfort come first…</a:t>
            </a:r>
          </a:p>
        </p:txBody>
      </p:sp>
      <p:sp>
        <p:nvSpPr>
          <p:cNvPr id="8" name="Rectangle 7"/>
          <p:cNvSpPr/>
          <p:nvPr/>
        </p:nvSpPr>
        <p:spPr>
          <a:xfrm>
            <a:off x="4740708" y="1334387"/>
            <a:ext cx="16474698" cy="2536656"/>
          </a:xfrm>
          <a:prstGeom prst="rect">
            <a:avLst/>
          </a:prstGeom>
        </p:spPr>
        <p:txBody>
          <a:bodyPr wrap="square">
            <a:spAutoFit/>
          </a:bodyPr>
          <a:lstStyle/>
          <a:p>
            <a:pPr lvl="0">
              <a:lnSpc>
                <a:spcPts val="24073"/>
              </a:lnSpc>
              <a:spcBef>
                <a:spcPct val="0"/>
              </a:spcBef>
            </a:pPr>
            <a:endParaRPr lang="en-US" sz="4000" dirty="0">
              <a:solidFill>
                <a:srgbClr val="423830"/>
              </a:solidFill>
              <a:latin typeface="Bookman Old Style" pitchFamily="18" charset="0"/>
            </a:endParaRPr>
          </a:p>
        </p:txBody>
      </p:sp>
      <p:sp>
        <p:nvSpPr>
          <p:cNvPr id="12" name="TextBox 11"/>
          <p:cNvSpPr txBox="1"/>
          <p:nvPr/>
        </p:nvSpPr>
        <p:spPr>
          <a:xfrm>
            <a:off x="689136" y="4606271"/>
            <a:ext cx="6172200" cy="2554545"/>
          </a:xfrm>
          <a:prstGeom prst="rect">
            <a:avLst/>
          </a:prstGeom>
          <a:noFill/>
        </p:spPr>
        <p:txBody>
          <a:bodyPr wrap="square" rtlCol="0">
            <a:spAutoFit/>
          </a:bodyPr>
          <a:lstStyle/>
          <a:p>
            <a:pPr lvl="0" algn="ctr">
              <a:buClr>
                <a:srgbClr val="000000"/>
              </a:buClr>
              <a:buSzPts val="2000"/>
            </a:pPr>
            <a:r>
              <a:rPr lang="en-US" sz="3200" dirty="0"/>
              <a:t>Sahil Dharani  </a:t>
            </a:r>
            <a:r>
              <a:rPr lang="en-US" sz="3200" dirty="0">
                <a:solidFill>
                  <a:srgbClr val="000000"/>
                </a:solidFill>
                <a:latin typeface="Arial"/>
                <a:cs typeface="Arial"/>
                <a:sym typeface="Arial"/>
              </a:rPr>
              <a:t>     </a:t>
            </a:r>
            <a:r>
              <a:rPr lang="en-US" sz="3200" dirty="0"/>
              <a:t>(ET24MTCA011)</a:t>
            </a:r>
          </a:p>
          <a:p>
            <a:pPr lvl="0" algn="ctr">
              <a:buClr>
                <a:srgbClr val="000000"/>
              </a:buClr>
              <a:buSzPts val="2000"/>
            </a:pPr>
            <a:r>
              <a:rPr lang="en-US" sz="3200" dirty="0"/>
              <a:t>Kishan Pancholi    (ET24MTCA036)</a:t>
            </a:r>
          </a:p>
          <a:p>
            <a:pPr lvl="0" algn="ctr">
              <a:buClr>
                <a:srgbClr val="000000"/>
              </a:buClr>
              <a:buSzPts val="2000"/>
            </a:pPr>
            <a:r>
              <a:rPr lang="en-US" sz="3200" dirty="0"/>
              <a:t>Siya Sachan           (ET24MTCA058)</a:t>
            </a:r>
          </a:p>
          <a:p>
            <a:pPr lvl="0" algn="ctr">
              <a:buSzPts val="2000"/>
            </a:pPr>
            <a:r>
              <a:rPr lang="en-US" sz="3200" dirty="0"/>
              <a:t>Vidhi Sorathia       (ET24MTCA065)</a:t>
            </a:r>
          </a:p>
          <a:p>
            <a:pPr lvl="0" algn="ctr">
              <a:buClr>
                <a:srgbClr val="000000"/>
              </a:buClr>
              <a:buSzPts val="2000"/>
            </a:pPr>
            <a:endParaRPr lang="en-US" sz="3200" dirty="0"/>
          </a:p>
        </p:txBody>
      </p:sp>
      <p:sp>
        <p:nvSpPr>
          <p:cNvPr id="13" name="Freeform 19"/>
          <p:cNvSpPr/>
          <p:nvPr/>
        </p:nvSpPr>
        <p:spPr>
          <a:xfrm>
            <a:off x="349573" y="8559646"/>
            <a:ext cx="679127" cy="913111"/>
          </a:xfrm>
          <a:custGeom>
            <a:avLst/>
            <a:gdLst/>
            <a:ahLst/>
            <a:cxnLst/>
            <a:rect l="l" t="t" r="r" b="b"/>
            <a:pathLst>
              <a:path w="679127" h="913111">
                <a:moveTo>
                  <a:pt x="0" y="0"/>
                </a:moveTo>
                <a:lnTo>
                  <a:pt x="679126" y="0"/>
                </a:lnTo>
                <a:lnTo>
                  <a:pt x="679126" y="913111"/>
                </a:lnTo>
                <a:lnTo>
                  <a:pt x="0" y="913111"/>
                </a:lnTo>
                <a:lnTo>
                  <a:pt x="0" y="0"/>
                </a:lnTo>
                <a:close/>
              </a:path>
            </a:pathLst>
          </a:custGeom>
          <a:blipFill>
            <a:blip r:embed="rId8" cstate="print">
              <a:extLst>
                <a:ext uri="{96DAC541-7B7A-43D3-8B79-37D633B846F1}">
                  <asvg:svgBlip xmlns:asvg="http://schemas.microsoft.com/office/drawing/2016/SVG/main" r:embed="rId9"/>
                </a:ext>
              </a:extLst>
            </a:blip>
            <a:stretch>
              <a:fillRect/>
            </a:stretch>
          </a:blipFill>
          <a:ln cap="sq">
            <a:noFill/>
            <a:prstDash val="solid"/>
            <a:miter/>
          </a:ln>
        </p:spPr>
      </p:sp>
      <p:pic>
        <p:nvPicPr>
          <p:cNvPr id="16" name="Google Shape;291;p1">
            <a:extLst>
              <a:ext uri="{FF2B5EF4-FFF2-40B4-BE49-F238E27FC236}">
                <a16:creationId xmlns:a16="http://schemas.microsoft.com/office/drawing/2014/main" id="{FE5F1008-9DCE-C98F-28DB-2106FC156C1C}"/>
              </a:ext>
            </a:extLst>
          </p:cNvPr>
          <p:cNvPicPr preferRelativeResize="0"/>
          <p:nvPr/>
        </p:nvPicPr>
        <p:blipFill rotWithShape="1">
          <a:blip r:embed="rId10">
            <a:alphaModFix/>
          </a:blip>
          <a:srcRect/>
          <a:stretch/>
        </p:blipFill>
        <p:spPr>
          <a:xfrm>
            <a:off x="0" y="527185"/>
            <a:ext cx="3505200" cy="2157547"/>
          </a:xfrm>
          <a:prstGeom prst="rect">
            <a:avLst/>
          </a:prstGeom>
          <a:noFill/>
          <a:ln>
            <a:noFill/>
          </a:ln>
        </p:spPr>
      </p:pic>
      <p:sp>
        <p:nvSpPr>
          <p:cNvPr id="17" name="Google Shape;293;p1">
            <a:extLst>
              <a:ext uri="{FF2B5EF4-FFF2-40B4-BE49-F238E27FC236}">
                <a16:creationId xmlns:a16="http://schemas.microsoft.com/office/drawing/2014/main" id="{B2054A99-494C-CCC3-5CD4-A5692BE64049}"/>
              </a:ext>
            </a:extLst>
          </p:cNvPr>
          <p:cNvSpPr txBox="1"/>
          <p:nvPr/>
        </p:nvSpPr>
        <p:spPr>
          <a:xfrm>
            <a:off x="4187679" y="527551"/>
            <a:ext cx="11935060" cy="2356332"/>
          </a:xfrm>
          <a:prstGeom prst="rect">
            <a:avLst/>
          </a:prstGeom>
          <a:noFill/>
          <a:ln>
            <a:noFill/>
          </a:ln>
        </p:spPr>
        <p:txBody>
          <a:bodyPr spcFirstLastPara="1" wrap="square" lIns="91425" tIns="45700" rIns="91425" bIns="45700" anchor="ctr" anchorCtr="0">
            <a:noAutofit/>
          </a:bodyPr>
          <a:lstStyle/>
          <a:p>
            <a:pPr lvl="0" algn="ctr">
              <a:buClr>
                <a:srgbClr val="000000"/>
              </a:buClr>
              <a:buSzPts val="1200"/>
            </a:pPr>
            <a:r>
              <a:rPr lang="en-US" sz="28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Sarvajanik Education Society</a:t>
            </a:r>
            <a:br>
              <a:rPr lang="en-US" sz="2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br>
            <a:r>
              <a:rPr lang="en-US" sz="26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8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Sarvajanik</a:t>
            </a:r>
            <a:r>
              <a:rPr lang="en-US" sz="26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8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College of Engineering &amp; Technology, Surat.</a:t>
            </a:r>
            <a:br>
              <a:rPr lang="en-US" sz="28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br>
            <a:r>
              <a:rPr lang="en-US" sz="2800" b="1" dirty="0">
                <a:latin typeface="Times New Roman" panose="02020603050405020304" pitchFamily="18" charset="0"/>
                <a:cs typeface="Times New Roman" panose="02020603050405020304" pitchFamily="18" charset="0"/>
              </a:rPr>
              <a:t>Department</a:t>
            </a:r>
            <a:r>
              <a:rPr lang="en-US" sz="2000" b="1" dirty="0">
                <a:latin typeface="Times New Roman" panose="02020603050405020304" pitchFamily="18" charset="0"/>
                <a:cs typeface="Times New Roman" panose="02020603050405020304" pitchFamily="18" charset="0"/>
              </a:rPr>
              <a:t> </a:t>
            </a:r>
            <a:r>
              <a:rPr lang="en-US" sz="32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a:t>
            </a:r>
            <a:r>
              <a:rPr lang="en-US" sz="28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of Computer Applications </a:t>
            </a:r>
            <a:br>
              <a:rPr lang="en-US" sz="32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br>
            <a:r>
              <a:rPr lang="en-US" sz="2800" b="1" i="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Academic Year: 2025– 26</a:t>
            </a:r>
            <a:endParaRPr sz="3600" dirty="0">
              <a:latin typeface="Times New Roman" panose="02020603050405020304" pitchFamily="18" charset="0"/>
              <a:cs typeface="Times New Roman" panose="02020603050405020304" pitchFamily="18" charset="0"/>
            </a:endParaRPr>
          </a:p>
        </p:txBody>
      </p:sp>
      <p:pic>
        <p:nvPicPr>
          <p:cNvPr id="18" name="Google Shape;292;p1">
            <a:extLst>
              <a:ext uri="{FF2B5EF4-FFF2-40B4-BE49-F238E27FC236}">
                <a16:creationId xmlns:a16="http://schemas.microsoft.com/office/drawing/2014/main" id="{961B3A46-F22C-86C1-5195-93DB5285B32B}"/>
              </a:ext>
            </a:extLst>
          </p:cNvPr>
          <p:cNvPicPr preferRelativeResize="0"/>
          <p:nvPr/>
        </p:nvPicPr>
        <p:blipFill rotWithShape="1">
          <a:blip r:embed="rId11">
            <a:alphaModFix/>
          </a:blip>
          <a:srcRect/>
          <a:stretch/>
        </p:blipFill>
        <p:spPr>
          <a:xfrm>
            <a:off x="15142247" y="606779"/>
            <a:ext cx="2187926" cy="1889266"/>
          </a:xfrm>
          <a:prstGeom prst="rect">
            <a:avLst/>
          </a:prstGeom>
          <a:noFill/>
          <a:ln>
            <a:noFill/>
          </a:ln>
        </p:spPr>
      </p:pic>
      <p:sp>
        <p:nvSpPr>
          <p:cNvPr id="20" name="TextBox 19">
            <a:extLst>
              <a:ext uri="{FF2B5EF4-FFF2-40B4-BE49-F238E27FC236}">
                <a16:creationId xmlns:a16="http://schemas.microsoft.com/office/drawing/2014/main" id="{31230746-E316-CF3F-5661-0D336B7392F5}"/>
              </a:ext>
            </a:extLst>
          </p:cNvPr>
          <p:cNvSpPr txBox="1"/>
          <p:nvPr/>
        </p:nvSpPr>
        <p:spPr>
          <a:xfrm>
            <a:off x="4645012" y="3068546"/>
            <a:ext cx="10696072" cy="523220"/>
          </a:xfrm>
          <a:prstGeom prst="rect">
            <a:avLst/>
          </a:prstGeom>
          <a:noFill/>
        </p:spPr>
        <p:txBody>
          <a:bodyPr wrap="square">
            <a:spAutoFit/>
          </a:bodyPr>
          <a:lstStyle/>
          <a:p>
            <a:r>
              <a:rPr lang="en-US" sz="2800" b="0" i="0" u="none" strike="noStrike" cap="none" dirty="0">
                <a:solidFill>
                  <a:srgbClr val="000000"/>
                </a:solidFill>
                <a:latin typeface="Arial"/>
                <a:ea typeface="Arial"/>
                <a:cs typeface="Arial"/>
                <a:sym typeface="Arial"/>
              </a:rPr>
              <a:t>A Project On</a:t>
            </a:r>
            <a:endParaRPr lang="en-US" sz="2800" dirty="0"/>
          </a:p>
        </p:txBody>
      </p:sp>
      <p:sp>
        <p:nvSpPr>
          <p:cNvPr id="22" name="TextBox 21">
            <a:extLst>
              <a:ext uri="{FF2B5EF4-FFF2-40B4-BE49-F238E27FC236}">
                <a16:creationId xmlns:a16="http://schemas.microsoft.com/office/drawing/2014/main" id="{87F53785-C408-10F6-8DF2-F881221DEC33}"/>
              </a:ext>
            </a:extLst>
          </p:cNvPr>
          <p:cNvSpPr txBox="1"/>
          <p:nvPr/>
        </p:nvSpPr>
        <p:spPr>
          <a:xfrm>
            <a:off x="4187679" y="8590320"/>
            <a:ext cx="10696072" cy="1508105"/>
          </a:xfrm>
          <a:prstGeom prst="rect">
            <a:avLst/>
          </a:prstGeom>
          <a:noFill/>
        </p:spPr>
        <p:txBody>
          <a:bodyPr wrap="square">
            <a:spAutoFit/>
          </a:bodyPr>
          <a:lstStyle/>
          <a:p>
            <a:pPr marL="0" marR="0" lvl="0" indent="0" algn="ctr" rtl="0">
              <a:lnSpc>
                <a:spcPct val="100000"/>
              </a:lnSpc>
              <a:spcBef>
                <a:spcPts val="0"/>
              </a:spcBef>
              <a:spcAft>
                <a:spcPts val="0"/>
              </a:spcAft>
              <a:buClr>
                <a:srgbClr val="262626"/>
              </a:buClr>
              <a:buSzPts val="1800"/>
              <a:buFont typeface="Arial"/>
              <a:buNone/>
            </a:pPr>
            <a:r>
              <a:rPr lang="en-US" sz="2800" b="1" i="0" u="none" strike="noStrike" cap="none" dirty="0">
                <a:solidFill>
                  <a:srgbClr val="262626"/>
                </a:solidFill>
                <a:latin typeface="Arial"/>
                <a:ea typeface="Arial"/>
                <a:cs typeface="Arial"/>
                <a:sym typeface="Arial"/>
              </a:rPr>
              <a:t>M.C.A. II Sem. </a:t>
            </a:r>
            <a:r>
              <a:rPr lang="en-US" sz="2800" b="1" dirty="0">
                <a:solidFill>
                  <a:srgbClr val="262626"/>
                </a:solidFill>
              </a:rPr>
              <a:t>3</a:t>
            </a:r>
            <a:endParaRPr lang="en-US" sz="2800" b="1" i="0" u="none" strike="noStrike" cap="none" dirty="0">
              <a:solidFill>
                <a:srgbClr val="262626"/>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3200" b="1" i="0" u="none" strike="noStrike" cap="none" dirty="0">
                <a:solidFill>
                  <a:srgbClr val="000000"/>
                </a:solidFill>
                <a:latin typeface="Arial"/>
                <a:ea typeface="Arial"/>
                <a:cs typeface="Arial"/>
                <a:sym typeface="Arial"/>
              </a:rPr>
              <a:t>Under the Guidance of</a:t>
            </a:r>
            <a:endParaRPr lang="en-US" sz="2000" b="0" i="0" u="none" strike="noStrike" cap="none" dirty="0">
              <a:solidFill>
                <a:srgbClr val="4C4C4C"/>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3200" b="0" i="0" u="none" strike="noStrike" cap="none" dirty="0">
                <a:solidFill>
                  <a:srgbClr val="000000"/>
                </a:solidFill>
                <a:latin typeface="Arial"/>
                <a:ea typeface="Arial"/>
                <a:cs typeface="Arial"/>
                <a:sym typeface="Arial"/>
              </a:rPr>
              <a:t>Prof. </a:t>
            </a:r>
            <a:r>
              <a:rPr lang="en-US" sz="3200" dirty="0"/>
              <a:t>Margee Rawal</a:t>
            </a:r>
            <a:endParaRPr lang="en-US" sz="2000" b="0" i="0" u="none" strike="noStrike" cap="none" dirty="0">
              <a:solidFill>
                <a:srgbClr val="4C4C4C"/>
              </a:solidFill>
              <a:latin typeface="Arial"/>
              <a:ea typeface="Arial"/>
              <a:cs typeface="Arial"/>
              <a:sym typeface="Arial"/>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2" name="TextBox 2"/>
          <p:cNvSpPr txBox="1"/>
          <p:nvPr/>
        </p:nvSpPr>
        <p:spPr>
          <a:xfrm>
            <a:off x="3081543" y="-154904"/>
            <a:ext cx="11545549" cy="1406860"/>
          </a:xfrm>
          <a:prstGeom prst="rect">
            <a:avLst/>
          </a:prstGeom>
        </p:spPr>
        <p:txBody>
          <a:bodyPr lIns="0" tIns="0" rIns="0" bIns="0" rtlCol="0" anchor="t">
            <a:spAutoFit/>
          </a:bodyPr>
          <a:lstStyle/>
          <a:p>
            <a:pPr marL="0" lvl="0" indent="0" algn="ctr">
              <a:lnSpc>
                <a:spcPts val="11999"/>
              </a:lnSpc>
              <a:spcBef>
                <a:spcPct val="0"/>
              </a:spcBef>
            </a:pPr>
            <a:r>
              <a:rPr lang="en-US" sz="8000" u="none" strike="noStrike" dirty="0">
                <a:solidFill>
                  <a:srgbClr val="423830"/>
                </a:solidFill>
                <a:latin typeface="Bookman Old Style" pitchFamily="18" charset="0"/>
              </a:rPr>
              <a:t>Table Of Content</a:t>
            </a:r>
          </a:p>
        </p:txBody>
      </p:sp>
      <p:sp>
        <p:nvSpPr>
          <p:cNvPr id="3" name="Freeform 3"/>
          <p:cNvSpPr/>
          <p:nvPr/>
        </p:nvSpPr>
        <p:spPr>
          <a:xfrm>
            <a:off x="200146" y="1162346"/>
            <a:ext cx="2919333" cy="2632456"/>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0782" y="3886930"/>
            <a:ext cx="3306074" cy="602729"/>
          </a:xfrm>
          <a:prstGeom prst="rect">
            <a:avLst/>
          </a:prstGeom>
        </p:spPr>
        <p:txBody>
          <a:bodyPr lIns="0" tIns="0" rIns="0" bIns="0" rtlCol="0" anchor="t">
            <a:spAutoFit/>
          </a:bodyPr>
          <a:lstStyle/>
          <a:p>
            <a:pPr marL="0" lvl="0" indent="0" algn="ctr">
              <a:lnSpc>
                <a:spcPts val="4679"/>
              </a:lnSpc>
              <a:spcBef>
                <a:spcPct val="0"/>
              </a:spcBef>
            </a:pPr>
            <a:r>
              <a:rPr lang="en-US" sz="3500" u="none" strike="noStrike" dirty="0">
                <a:solidFill>
                  <a:srgbClr val="423830"/>
                </a:solidFill>
                <a:latin typeface="Bookman Old Style" pitchFamily="18" charset="0"/>
              </a:rPr>
              <a:t>Introduction</a:t>
            </a:r>
          </a:p>
        </p:txBody>
      </p:sp>
      <p:sp>
        <p:nvSpPr>
          <p:cNvPr id="6" name="TextBox 6"/>
          <p:cNvSpPr txBox="1"/>
          <p:nvPr/>
        </p:nvSpPr>
        <p:spPr>
          <a:xfrm>
            <a:off x="-33783" y="1749384"/>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01</a:t>
            </a:r>
          </a:p>
        </p:txBody>
      </p:sp>
      <p:sp>
        <p:nvSpPr>
          <p:cNvPr id="7" name="Freeform 7"/>
          <p:cNvSpPr/>
          <p:nvPr/>
        </p:nvSpPr>
        <p:spPr>
          <a:xfrm>
            <a:off x="4078314" y="1129324"/>
            <a:ext cx="2919333" cy="2632456"/>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3818140" y="3886366"/>
            <a:ext cx="3306074" cy="562655"/>
          </a:xfrm>
          <a:prstGeom prst="rect">
            <a:avLst/>
          </a:prstGeom>
        </p:spPr>
        <p:txBody>
          <a:bodyPr lIns="0" tIns="0" rIns="0" bIns="0" rtlCol="0" anchor="t">
            <a:spAutoFit/>
          </a:bodyPr>
          <a:lstStyle/>
          <a:p>
            <a:pPr marL="0" lvl="0" indent="0" algn="ctr">
              <a:lnSpc>
                <a:spcPts val="4679"/>
              </a:lnSpc>
              <a:spcBef>
                <a:spcPct val="0"/>
              </a:spcBef>
            </a:pPr>
            <a:r>
              <a:rPr lang="en-US" sz="3500" dirty="0">
                <a:solidFill>
                  <a:srgbClr val="423830"/>
                </a:solidFill>
                <a:latin typeface="Bookman Old Style" pitchFamily="18" charset="0"/>
              </a:rPr>
              <a:t>Project Profile</a:t>
            </a:r>
            <a:endParaRPr lang="en-US" sz="3500" u="none" strike="noStrike" dirty="0">
              <a:solidFill>
                <a:srgbClr val="423830"/>
              </a:solidFill>
              <a:latin typeface="Bookman Old Style" pitchFamily="18" charset="0"/>
            </a:endParaRPr>
          </a:p>
        </p:txBody>
      </p:sp>
      <p:sp>
        <p:nvSpPr>
          <p:cNvPr id="10" name="TextBox 10"/>
          <p:cNvSpPr txBox="1"/>
          <p:nvPr/>
        </p:nvSpPr>
        <p:spPr>
          <a:xfrm>
            <a:off x="3867172" y="1722409"/>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02</a:t>
            </a:r>
          </a:p>
        </p:txBody>
      </p:sp>
      <p:sp>
        <p:nvSpPr>
          <p:cNvPr id="11" name="Freeform 11"/>
          <p:cNvSpPr/>
          <p:nvPr/>
        </p:nvSpPr>
        <p:spPr>
          <a:xfrm>
            <a:off x="7745436" y="1248383"/>
            <a:ext cx="2919333" cy="2632457"/>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6" cstate="print">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7372080" y="3886366"/>
            <a:ext cx="3794478" cy="1146404"/>
          </a:xfrm>
          <a:prstGeom prst="rect">
            <a:avLst/>
          </a:prstGeom>
        </p:spPr>
        <p:txBody>
          <a:bodyPr lIns="0" tIns="0" rIns="0" bIns="0" rtlCol="0" anchor="t">
            <a:spAutoFit/>
          </a:bodyPr>
          <a:lstStyle/>
          <a:p>
            <a:pPr marL="0" lvl="0" indent="0" algn="ctr">
              <a:lnSpc>
                <a:spcPts val="4679"/>
              </a:lnSpc>
              <a:spcBef>
                <a:spcPct val="0"/>
              </a:spcBef>
            </a:pPr>
            <a:r>
              <a:rPr lang="en-US" sz="3500" dirty="0">
                <a:solidFill>
                  <a:srgbClr val="423830"/>
                </a:solidFill>
                <a:latin typeface="Bookman Old Style" pitchFamily="18" charset="0"/>
              </a:rPr>
              <a:t>System</a:t>
            </a:r>
            <a:r>
              <a:rPr lang="en-US" sz="2900" dirty="0">
                <a:solidFill>
                  <a:srgbClr val="423830"/>
                </a:solidFill>
                <a:latin typeface="Bookman Old Style" pitchFamily="18" charset="0"/>
              </a:rPr>
              <a:t> Environment</a:t>
            </a:r>
            <a:endParaRPr lang="en-US" sz="2900" u="none" strike="noStrike" dirty="0">
              <a:solidFill>
                <a:srgbClr val="423830"/>
              </a:solidFill>
              <a:latin typeface="Bookman Old Style" pitchFamily="18" charset="0"/>
            </a:endParaRPr>
          </a:p>
        </p:txBody>
      </p:sp>
      <p:sp>
        <p:nvSpPr>
          <p:cNvPr id="14" name="TextBox 14"/>
          <p:cNvSpPr txBox="1"/>
          <p:nvPr/>
        </p:nvSpPr>
        <p:spPr>
          <a:xfrm>
            <a:off x="7534294" y="1840260"/>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03</a:t>
            </a:r>
          </a:p>
        </p:txBody>
      </p:sp>
      <p:sp>
        <p:nvSpPr>
          <p:cNvPr id="15" name="Freeform 3"/>
          <p:cNvSpPr/>
          <p:nvPr/>
        </p:nvSpPr>
        <p:spPr>
          <a:xfrm>
            <a:off x="11669249" y="1242859"/>
            <a:ext cx="2919333" cy="2632456"/>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16" name="Freeform 7"/>
          <p:cNvSpPr/>
          <p:nvPr/>
        </p:nvSpPr>
        <p:spPr>
          <a:xfrm>
            <a:off x="214152" y="4802985"/>
            <a:ext cx="2919333" cy="2632456"/>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sp>
      <p:sp>
        <p:nvSpPr>
          <p:cNvPr id="17" name="Freeform 11"/>
          <p:cNvSpPr/>
          <p:nvPr/>
        </p:nvSpPr>
        <p:spPr>
          <a:xfrm>
            <a:off x="4011510" y="4802984"/>
            <a:ext cx="2919333" cy="2632457"/>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6" cstate="print">
              <a:extLst>
                <a:ext uri="{96DAC541-7B7A-43D3-8B79-37D633B846F1}">
                  <asvg:svgBlip xmlns:asvg="http://schemas.microsoft.com/office/drawing/2016/SVG/main" r:embed="rId7"/>
                </a:ext>
              </a:extLst>
            </a:blip>
            <a:stretch>
              <a:fillRect/>
            </a:stretch>
          </a:blipFill>
        </p:spPr>
        <p:txBody>
          <a:bodyPr/>
          <a:lstStyle/>
          <a:p>
            <a:endParaRPr lang="en-IN" dirty="0">
              <a:latin typeface="Bookman Old Style" pitchFamily="18" charset="0"/>
            </a:endParaRPr>
          </a:p>
        </p:txBody>
      </p:sp>
      <p:sp>
        <p:nvSpPr>
          <p:cNvPr id="18" name="TextBox 4"/>
          <p:cNvSpPr txBox="1"/>
          <p:nvPr/>
        </p:nvSpPr>
        <p:spPr>
          <a:xfrm>
            <a:off x="11470792" y="3902024"/>
            <a:ext cx="3306074" cy="1177951"/>
          </a:xfrm>
          <a:prstGeom prst="rect">
            <a:avLst/>
          </a:prstGeom>
        </p:spPr>
        <p:txBody>
          <a:bodyPr lIns="0" tIns="0" rIns="0" bIns="0" rtlCol="0" anchor="t">
            <a:spAutoFit/>
          </a:bodyPr>
          <a:lstStyle/>
          <a:p>
            <a:pPr marL="0" lvl="0" indent="0" algn="ctr">
              <a:lnSpc>
                <a:spcPts val="4679"/>
              </a:lnSpc>
              <a:spcBef>
                <a:spcPct val="0"/>
              </a:spcBef>
            </a:pPr>
            <a:r>
              <a:rPr lang="en-US" sz="3899" dirty="0">
                <a:solidFill>
                  <a:srgbClr val="423830"/>
                </a:solidFill>
                <a:latin typeface="Bookman Old Style" pitchFamily="18" charset="0"/>
              </a:rPr>
              <a:t>Why FurniZone?</a:t>
            </a:r>
            <a:endParaRPr lang="en-US" sz="3899" u="none" strike="noStrike" dirty="0">
              <a:solidFill>
                <a:srgbClr val="423830"/>
              </a:solidFill>
              <a:latin typeface="Bookman Old Style" pitchFamily="18" charset="0"/>
            </a:endParaRPr>
          </a:p>
        </p:txBody>
      </p:sp>
      <p:sp>
        <p:nvSpPr>
          <p:cNvPr id="19" name="TextBox 14"/>
          <p:cNvSpPr txBox="1"/>
          <p:nvPr/>
        </p:nvSpPr>
        <p:spPr>
          <a:xfrm>
            <a:off x="11412557" y="1751850"/>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04</a:t>
            </a:r>
          </a:p>
        </p:txBody>
      </p:sp>
      <p:sp>
        <p:nvSpPr>
          <p:cNvPr id="20" name="TextBox 14"/>
          <p:cNvSpPr txBox="1"/>
          <p:nvPr/>
        </p:nvSpPr>
        <p:spPr>
          <a:xfrm>
            <a:off x="0" y="5334385"/>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06</a:t>
            </a:r>
          </a:p>
        </p:txBody>
      </p:sp>
      <p:sp>
        <p:nvSpPr>
          <p:cNvPr id="21" name="TextBox 14"/>
          <p:cNvSpPr txBox="1"/>
          <p:nvPr/>
        </p:nvSpPr>
        <p:spPr>
          <a:xfrm>
            <a:off x="3719848" y="5334384"/>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07</a:t>
            </a:r>
          </a:p>
        </p:txBody>
      </p:sp>
      <p:sp>
        <p:nvSpPr>
          <p:cNvPr id="24" name="Freeform 3"/>
          <p:cNvSpPr/>
          <p:nvPr/>
        </p:nvSpPr>
        <p:spPr>
          <a:xfrm>
            <a:off x="7772400" y="5067300"/>
            <a:ext cx="2919333" cy="2632456"/>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5" name="TextBox 14"/>
          <p:cNvSpPr txBox="1"/>
          <p:nvPr/>
        </p:nvSpPr>
        <p:spPr>
          <a:xfrm>
            <a:off x="7543800" y="5448300"/>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08</a:t>
            </a:r>
          </a:p>
        </p:txBody>
      </p:sp>
      <p:sp>
        <p:nvSpPr>
          <p:cNvPr id="26" name="TextBox 4"/>
          <p:cNvSpPr txBox="1"/>
          <p:nvPr/>
        </p:nvSpPr>
        <p:spPr>
          <a:xfrm>
            <a:off x="3556167" y="7501035"/>
            <a:ext cx="3568047" cy="1780680"/>
          </a:xfrm>
          <a:prstGeom prst="rect">
            <a:avLst/>
          </a:prstGeom>
        </p:spPr>
        <p:txBody>
          <a:bodyPr wrap="square" lIns="0" tIns="0" rIns="0" bIns="0" rtlCol="0" anchor="t">
            <a:spAutoFit/>
          </a:bodyPr>
          <a:lstStyle/>
          <a:p>
            <a:pPr lvl="0" algn="ctr">
              <a:lnSpc>
                <a:spcPts val="4679"/>
              </a:lnSpc>
              <a:spcBef>
                <a:spcPct val="0"/>
              </a:spcBef>
            </a:pPr>
            <a:r>
              <a:rPr lang="en-US" sz="3500" dirty="0">
                <a:latin typeface="Bookman Old Style" pitchFamily="18" charset="0"/>
              </a:rPr>
              <a:t>Customer Service and Support</a:t>
            </a:r>
            <a:endParaRPr lang="en-US" sz="3500" u="none" strike="noStrike" dirty="0">
              <a:solidFill>
                <a:srgbClr val="423830"/>
              </a:solidFill>
              <a:latin typeface="Bookman Old Style" pitchFamily="18" charset="0"/>
            </a:endParaRPr>
          </a:p>
        </p:txBody>
      </p:sp>
      <p:sp>
        <p:nvSpPr>
          <p:cNvPr id="27" name="Freeform 7"/>
          <p:cNvSpPr/>
          <p:nvPr/>
        </p:nvSpPr>
        <p:spPr>
          <a:xfrm>
            <a:off x="11582400" y="5067300"/>
            <a:ext cx="2919333" cy="2632456"/>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4" cstate="print">
              <a:extLst>
                <a:ext uri="{96DAC541-7B7A-43D3-8B79-37D633B846F1}">
                  <asvg:svgBlip xmlns:asvg="http://schemas.microsoft.com/office/drawing/2016/SVG/main" r:embed="rId5"/>
                </a:ext>
              </a:extLst>
            </a:blip>
            <a:stretch>
              <a:fillRect/>
            </a:stretch>
          </a:blipFill>
        </p:spPr>
      </p:sp>
      <p:sp>
        <p:nvSpPr>
          <p:cNvPr id="28" name="TextBox 14"/>
          <p:cNvSpPr txBox="1"/>
          <p:nvPr/>
        </p:nvSpPr>
        <p:spPr>
          <a:xfrm>
            <a:off x="11353800" y="5524500"/>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09</a:t>
            </a:r>
          </a:p>
        </p:txBody>
      </p:sp>
      <p:sp>
        <p:nvSpPr>
          <p:cNvPr id="29" name="TextBox 4"/>
          <p:cNvSpPr txBox="1"/>
          <p:nvPr/>
        </p:nvSpPr>
        <p:spPr>
          <a:xfrm>
            <a:off x="7391400" y="7581900"/>
            <a:ext cx="3568047" cy="1165384"/>
          </a:xfrm>
          <a:prstGeom prst="rect">
            <a:avLst/>
          </a:prstGeom>
        </p:spPr>
        <p:txBody>
          <a:bodyPr wrap="square" lIns="0" tIns="0" rIns="0" bIns="0" rtlCol="0" anchor="t">
            <a:spAutoFit/>
          </a:bodyPr>
          <a:lstStyle/>
          <a:p>
            <a:pPr lvl="0" algn="ctr">
              <a:lnSpc>
                <a:spcPts val="4679"/>
              </a:lnSpc>
              <a:spcBef>
                <a:spcPct val="0"/>
              </a:spcBef>
            </a:pPr>
            <a:r>
              <a:rPr lang="en-US" sz="3500" dirty="0">
                <a:latin typeface="Bookman Old Style" pitchFamily="18" charset="0"/>
              </a:rPr>
              <a:t>Future Plans and Innovations</a:t>
            </a:r>
            <a:endParaRPr lang="en-US" sz="3500" u="none" strike="noStrike" dirty="0">
              <a:solidFill>
                <a:srgbClr val="423830"/>
              </a:solidFill>
              <a:latin typeface="Bookman Old Style" pitchFamily="18" charset="0"/>
            </a:endParaRPr>
          </a:p>
        </p:txBody>
      </p:sp>
      <p:sp>
        <p:nvSpPr>
          <p:cNvPr id="31" name="Freeform 11"/>
          <p:cNvSpPr/>
          <p:nvPr/>
        </p:nvSpPr>
        <p:spPr>
          <a:xfrm>
            <a:off x="15235562" y="1253909"/>
            <a:ext cx="2919333" cy="2632457"/>
          </a:xfrm>
          <a:custGeom>
            <a:avLst/>
            <a:gdLst/>
            <a:ahLst/>
            <a:cxnLst/>
            <a:rect l="l" t="t" r="r" b="b"/>
            <a:pathLst>
              <a:path w="2919333" h="2978911">
                <a:moveTo>
                  <a:pt x="0" y="0"/>
                </a:moveTo>
                <a:lnTo>
                  <a:pt x="2919333" y="0"/>
                </a:lnTo>
                <a:lnTo>
                  <a:pt x="2919333" y="2978912"/>
                </a:lnTo>
                <a:lnTo>
                  <a:pt x="0" y="2978912"/>
                </a:lnTo>
                <a:lnTo>
                  <a:pt x="0" y="0"/>
                </a:lnTo>
                <a:close/>
              </a:path>
            </a:pathLst>
          </a:custGeom>
          <a:blipFill>
            <a:blip r:embed="rId6" cstate="print">
              <a:extLst>
                <a:ext uri="{96DAC541-7B7A-43D3-8B79-37D633B846F1}">
                  <asvg:svgBlip xmlns:asvg="http://schemas.microsoft.com/office/drawing/2016/SVG/main" r:embed="rId7"/>
                </a:ext>
              </a:extLst>
            </a:blip>
            <a:stretch>
              <a:fillRect/>
            </a:stretch>
          </a:blipFill>
        </p:spPr>
        <p:txBody>
          <a:bodyPr/>
          <a:lstStyle/>
          <a:p>
            <a:endParaRPr lang="en-IN" dirty="0"/>
          </a:p>
        </p:txBody>
      </p:sp>
      <p:sp>
        <p:nvSpPr>
          <p:cNvPr id="32" name="TextBox 14"/>
          <p:cNvSpPr txBox="1"/>
          <p:nvPr/>
        </p:nvSpPr>
        <p:spPr>
          <a:xfrm>
            <a:off x="15024420" y="1756961"/>
            <a:ext cx="3341616" cy="1786363"/>
          </a:xfrm>
          <a:prstGeom prst="rect">
            <a:avLst/>
          </a:prstGeom>
        </p:spPr>
        <p:txBody>
          <a:bodyPr lIns="0" tIns="0" rIns="0" bIns="0" rtlCol="0" anchor="t">
            <a:spAutoFit/>
          </a:bodyPr>
          <a:lstStyle/>
          <a:p>
            <a:pPr marL="0" lvl="0" indent="0" algn="ctr">
              <a:lnSpc>
                <a:spcPts val="13915"/>
              </a:lnSpc>
              <a:spcBef>
                <a:spcPct val="0"/>
              </a:spcBef>
            </a:pPr>
            <a:r>
              <a:rPr lang="en-US" sz="11596" dirty="0">
                <a:solidFill>
                  <a:srgbClr val="423830"/>
                </a:solidFill>
                <a:latin typeface="Bookman Old Style" pitchFamily="18" charset="0"/>
              </a:rPr>
              <a:t>05</a:t>
            </a:r>
          </a:p>
        </p:txBody>
      </p:sp>
      <p:sp>
        <p:nvSpPr>
          <p:cNvPr id="33" name="TextBox 4"/>
          <p:cNvSpPr txBox="1"/>
          <p:nvPr/>
        </p:nvSpPr>
        <p:spPr>
          <a:xfrm>
            <a:off x="15081100" y="3886366"/>
            <a:ext cx="3306074" cy="1780680"/>
          </a:xfrm>
          <a:prstGeom prst="rect">
            <a:avLst/>
          </a:prstGeom>
        </p:spPr>
        <p:txBody>
          <a:bodyPr wrap="square" lIns="0" tIns="0" rIns="0" bIns="0" rtlCol="0" anchor="t">
            <a:spAutoFit/>
          </a:bodyPr>
          <a:lstStyle/>
          <a:p>
            <a:pPr algn="ctr">
              <a:lnSpc>
                <a:spcPts val="4679"/>
              </a:lnSpc>
              <a:spcBef>
                <a:spcPct val="0"/>
              </a:spcBef>
            </a:pPr>
            <a:r>
              <a:rPr lang="en-US" sz="3500" dirty="0">
                <a:solidFill>
                  <a:srgbClr val="423830"/>
                </a:solidFill>
                <a:latin typeface="Bookman Old Style" pitchFamily="18" charset="0"/>
              </a:rPr>
              <a:t>Types of Furniture</a:t>
            </a:r>
          </a:p>
          <a:p>
            <a:pPr marL="0" lvl="0" indent="0" algn="ctr">
              <a:lnSpc>
                <a:spcPts val="4679"/>
              </a:lnSpc>
              <a:spcBef>
                <a:spcPct val="0"/>
              </a:spcBef>
            </a:pPr>
            <a:endParaRPr lang="en-US" sz="3500" u="none" strike="noStrike" dirty="0">
              <a:solidFill>
                <a:srgbClr val="423830"/>
              </a:solidFill>
              <a:latin typeface="Bookman Old Style" pitchFamily="18" charset="0"/>
            </a:endParaRPr>
          </a:p>
        </p:txBody>
      </p:sp>
      <p:sp>
        <p:nvSpPr>
          <p:cNvPr id="34" name="TextBox 4"/>
          <p:cNvSpPr txBox="1"/>
          <p:nvPr/>
        </p:nvSpPr>
        <p:spPr>
          <a:xfrm>
            <a:off x="11277600" y="7734300"/>
            <a:ext cx="3568047" cy="575222"/>
          </a:xfrm>
          <a:prstGeom prst="rect">
            <a:avLst/>
          </a:prstGeom>
        </p:spPr>
        <p:txBody>
          <a:bodyPr wrap="square" lIns="0" tIns="0" rIns="0" bIns="0" rtlCol="0" anchor="t">
            <a:spAutoFit/>
          </a:bodyPr>
          <a:lstStyle/>
          <a:p>
            <a:pPr marL="0" lvl="0" indent="0" algn="ctr">
              <a:lnSpc>
                <a:spcPts val="4679"/>
              </a:lnSpc>
              <a:spcBef>
                <a:spcPct val="0"/>
              </a:spcBef>
            </a:pPr>
            <a:r>
              <a:rPr lang="en-US" sz="3500" dirty="0">
                <a:solidFill>
                  <a:srgbClr val="423830"/>
                </a:solidFill>
                <a:latin typeface="Bookman Old Style" pitchFamily="18" charset="0"/>
              </a:rPr>
              <a:t>References</a:t>
            </a:r>
            <a:endParaRPr lang="en-US" sz="3500" u="none" strike="noStrike" dirty="0">
              <a:solidFill>
                <a:srgbClr val="423830"/>
              </a:solidFill>
              <a:latin typeface="Bookman Old Style" pitchFamily="18" charset="0"/>
            </a:endParaRPr>
          </a:p>
        </p:txBody>
      </p:sp>
      <p:sp>
        <p:nvSpPr>
          <p:cNvPr id="30" name="TextBox 4"/>
          <p:cNvSpPr txBox="1"/>
          <p:nvPr/>
        </p:nvSpPr>
        <p:spPr>
          <a:xfrm>
            <a:off x="78356" y="7501035"/>
            <a:ext cx="3306074" cy="1205458"/>
          </a:xfrm>
          <a:prstGeom prst="rect">
            <a:avLst/>
          </a:prstGeom>
        </p:spPr>
        <p:txBody>
          <a:bodyPr lIns="0" tIns="0" rIns="0" bIns="0" rtlCol="0" anchor="t">
            <a:spAutoFit/>
          </a:bodyPr>
          <a:lstStyle/>
          <a:p>
            <a:pPr marL="0" lvl="0" indent="0" algn="ctr">
              <a:lnSpc>
                <a:spcPts val="4679"/>
              </a:lnSpc>
              <a:spcBef>
                <a:spcPct val="0"/>
              </a:spcBef>
            </a:pPr>
            <a:r>
              <a:rPr lang="en-US" sz="3500" dirty="0">
                <a:solidFill>
                  <a:srgbClr val="423830"/>
                </a:solidFill>
                <a:latin typeface="Bookman Old Style" pitchFamily="18" charset="0"/>
              </a:rPr>
              <a:t>FurniZone Overview</a:t>
            </a:r>
            <a:endParaRPr lang="en-US" sz="3500" u="none" strike="noStrike" dirty="0">
              <a:solidFill>
                <a:srgbClr val="423830"/>
              </a:solidFill>
              <a:latin typeface="Bookman Old Style" pitchFamily="18"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3" name="Freeform 3"/>
          <p:cNvSpPr/>
          <p:nvPr/>
        </p:nvSpPr>
        <p:spPr>
          <a:xfrm>
            <a:off x="-1371600" y="4741425"/>
            <a:ext cx="11592974" cy="5510261"/>
          </a:xfrm>
          <a:custGeom>
            <a:avLst/>
            <a:gdLst/>
            <a:ahLst/>
            <a:cxnLst/>
            <a:rect l="l" t="t" r="r" b="b"/>
            <a:pathLst>
              <a:path w="18882694" h="8734935">
                <a:moveTo>
                  <a:pt x="0" y="0"/>
                </a:moveTo>
                <a:lnTo>
                  <a:pt x="18882694" y="0"/>
                </a:lnTo>
                <a:lnTo>
                  <a:pt x="18882694" y="8734935"/>
                </a:lnTo>
                <a:lnTo>
                  <a:pt x="0" y="8734935"/>
                </a:lnTo>
                <a:lnTo>
                  <a:pt x="0" y="0"/>
                </a:lnTo>
                <a:close/>
              </a:path>
            </a:pathLst>
          </a:custGeom>
          <a:blipFill>
            <a:blip r:embed="rId2" cstate="print"/>
            <a:stretch>
              <a:fillRect b="-44116"/>
            </a:stretch>
          </a:blipFill>
        </p:spPr>
      </p:sp>
      <p:sp>
        <p:nvSpPr>
          <p:cNvPr id="4" name="TextBox 4"/>
          <p:cNvSpPr txBox="1"/>
          <p:nvPr/>
        </p:nvSpPr>
        <p:spPr>
          <a:xfrm>
            <a:off x="2241607" y="638175"/>
            <a:ext cx="13804786" cy="2223044"/>
          </a:xfrm>
          <a:prstGeom prst="rect">
            <a:avLst/>
          </a:prstGeom>
        </p:spPr>
        <p:txBody>
          <a:bodyPr lIns="0" tIns="0" rIns="0" bIns="0" rtlCol="0" anchor="t">
            <a:spAutoFit/>
          </a:bodyPr>
          <a:lstStyle/>
          <a:p>
            <a:pPr marL="0" lvl="0" indent="0">
              <a:lnSpc>
                <a:spcPts val="19512"/>
              </a:lnSpc>
              <a:spcBef>
                <a:spcPct val="0"/>
              </a:spcBef>
            </a:pPr>
            <a:r>
              <a:rPr lang="en-US" sz="11000" u="none" strike="noStrike" spc="1398" dirty="0">
                <a:solidFill>
                  <a:srgbClr val="423830"/>
                </a:solidFill>
                <a:latin typeface="Bookman Old Style" pitchFamily="18" charset="0"/>
              </a:rPr>
              <a:t>INTRODUCTION</a:t>
            </a:r>
          </a:p>
        </p:txBody>
      </p:sp>
      <p:sp>
        <p:nvSpPr>
          <p:cNvPr id="7" name="Rectangle 6"/>
          <p:cNvSpPr/>
          <p:nvPr/>
        </p:nvSpPr>
        <p:spPr>
          <a:xfrm>
            <a:off x="9144000" y="3043309"/>
            <a:ext cx="9144000" cy="2954655"/>
          </a:xfrm>
          <a:prstGeom prst="rect">
            <a:avLst/>
          </a:prstGeom>
        </p:spPr>
        <p:txBody>
          <a:bodyPr>
            <a:spAutoFit/>
          </a:bodyPr>
          <a:lstStyle/>
          <a:p>
            <a:r>
              <a:rPr lang="en-US" dirty="0">
                <a:solidFill>
                  <a:srgbClr val="ECECEC"/>
                </a:solidFill>
                <a:latin typeface="Söhne"/>
              </a:rPr>
              <a:t>At [Your Furniture Website Name], we believe that furniture isn't just about </a:t>
            </a:r>
            <a:r>
              <a:rPr lang="en-US" dirty="0">
                <a:solidFill>
                  <a:srgbClr val="ECECEC"/>
                </a:solidFill>
                <a:latin typeface="Arial" panose="020B0604020202020204" pitchFamily="34" charset="0"/>
                <a:cs typeface="Arial" panose="020B0604020202020204" pitchFamily="34" charset="0"/>
              </a:rPr>
              <a:t>functionali</a:t>
            </a:r>
          </a:p>
          <a:p>
            <a:pPr algn="just"/>
            <a:r>
              <a:rPr lang="en-US" sz="2400" dirty="0">
                <a:latin typeface="Bookman Old Style" panose="02050604050505020204" pitchFamily="18" charset="0"/>
                <a:cs typeface="Arial" panose="020B0604020202020204" pitchFamily="34" charset="0"/>
              </a:rPr>
              <a:t>At FurniZone, we believe that furniture isn't just about functionality—it's about creating spaces that inspire, comfort, and reflect your unique style. Whether you're furnishing your home, office, or any other space, we're here to help you turn your vision into reality.</a:t>
            </a:r>
            <a:r>
              <a:rPr lang="en-US" sz="2400" dirty="0">
                <a:solidFill>
                  <a:srgbClr val="ECECEC"/>
                </a:solidFill>
                <a:latin typeface="Söhne"/>
              </a:rPr>
              <a:t>, comfort, and reflect your unique style. Whether you're furnishing your home, office</a:t>
            </a:r>
            <a:r>
              <a:rPr lang="en-US" dirty="0">
                <a:solidFill>
                  <a:srgbClr val="ECECEC"/>
                </a:solidFill>
                <a:latin typeface="Söhne"/>
              </a:rPr>
              <a:t>, or any other space, we're here to help you turn your vision into reality.</a:t>
            </a:r>
            <a:endParaRPr lang="en-IN" dirty="0"/>
          </a:p>
        </p:txBody>
      </p:sp>
      <p:sp>
        <p:nvSpPr>
          <p:cNvPr id="8" name="Rectangle 7"/>
          <p:cNvSpPr/>
          <p:nvPr/>
        </p:nvSpPr>
        <p:spPr>
          <a:xfrm>
            <a:off x="9116291" y="5168646"/>
            <a:ext cx="9144000" cy="1938992"/>
          </a:xfrm>
          <a:prstGeom prst="rect">
            <a:avLst/>
          </a:prstGeom>
        </p:spPr>
        <p:txBody>
          <a:bodyPr>
            <a:spAutoFit/>
          </a:bodyPr>
          <a:lstStyle/>
          <a:p>
            <a:pPr algn="just"/>
            <a:r>
              <a:rPr lang="en-US" sz="2400" dirty="0">
                <a:latin typeface="Bookman Old Style" panose="02050604050505020204" pitchFamily="18" charset="0"/>
                <a:cs typeface="Arial" panose="020B0604020202020204" pitchFamily="34" charset="0"/>
              </a:rPr>
              <a:t>Whether you're searching for a statement sofa, a cozy dining set, or stylish accents to complete your decor, we invite you to explore our diverse range of collections. With options to suit every taste and budget, there's something for everyone at FurniZone.</a:t>
            </a:r>
            <a:endParaRPr lang="en-IN" sz="2400" dirty="0">
              <a:latin typeface="Bookman Old Style" panose="02050604050505020204" pitchFamily="18" charset="0"/>
              <a:cs typeface="Arial" panose="020B0604020202020204" pitchFamily="34" charset="0"/>
            </a:endParaRPr>
          </a:p>
        </p:txBody>
      </p:sp>
      <p:sp>
        <p:nvSpPr>
          <p:cNvPr id="9" name="Rectangle 8"/>
          <p:cNvSpPr/>
          <p:nvPr/>
        </p:nvSpPr>
        <p:spPr>
          <a:xfrm>
            <a:off x="9088582" y="7029826"/>
            <a:ext cx="9144000" cy="1569660"/>
          </a:xfrm>
          <a:prstGeom prst="rect">
            <a:avLst/>
          </a:prstGeom>
        </p:spPr>
        <p:txBody>
          <a:bodyPr>
            <a:spAutoFit/>
          </a:bodyPr>
          <a:lstStyle/>
          <a:p>
            <a:pPr algn="just"/>
            <a:r>
              <a:rPr lang="en-US" sz="2400" dirty="0">
                <a:latin typeface="Bookman Old Style" panose="02050604050505020204" pitchFamily="18" charset="0"/>
                <a:cs typeface="Arial" panose="020B0604020202020204" pitchFamily="34" charset="0"/>
              </a:rPr>
              <a:t>Shop with confidence knowing that your satisfaction is our top priority. With secure online ordering and hassle-free returns, we're committed to making your shopping experience as enjoyable as possible.</a:t>
            </a:r>
            <a:endParaRPr lang="en-IN" sz="2400" dirty="0">
              <a:latin typeface="Bookman Old Style" panose="02050604050505020204" pitchFamily="18"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graphicFrame>
        <p:nvGraphicFramePr>
          <p:cNvPr id="11" name="Table 10"/>
          <p:cNvGraphicFramePr>
            <a:graphicFrameLocks noGrp="1"/>
          </p:cNvGraphicFramePr>
          <p:nvPr>
            <p:extLst>
              <p:ext uri="{D42A27DB-BD31-4B8C-83A1-F6EECF244321}">
                <p14:modId xmlns:p14="http://schemas.microsoft.com/office/powerpoint/2010/main" val="3567456657"/>
              </p:ext>
            </p:extLst>
          </p:nvPr>
        </p:nvGraphicFramePr>
        <p:xfrm>
          <a:off x="1524000" y="2481390"/>
          <a:ext cx="14097000" cy="6968993"/>
        </p:xfrm>
        <a:graphic>
          <a:graphicData uri="http://schemas.openxmlformats.org/drawingml/2006/table">
            <a:tbl>
              <a:tblPr firstRow="1" bandRow="1">
                <a:effectLst>
                  <a:outerShdw blurRad="50800" dist="38100" dir="8100000" algn="tr" rotWithShape="0">
                    <a:prstClr val="black">
                      <a:alpha val="40000"/>
                    </a:prstClr>
                  </a:outerShdw>
                </a:effectLst>
                <a:tableStyleId>{D27102A9-8310-4765-A935-A1911B00CA55}</a:tableStyleId>
              </a:tblPr>
              <a:tblGrid>
                <a:gridCol w="4088545">
                  <a:extLst>
                    <a:ext uri="{9D8B030D-6E8A-4147-A177-3AD203B41FA5}">
                      <a16:colId xmlns:a16="http://schemas.microsoft.com/office/drawing/2014/main" val="20000"/>
                    </a:ext>
                  </a:extLst>
                </a:gridCol>
                <a:gridCol w="10008455">
                  <a:extLst>
                    <a:ext uri="{9D8B030D-6E8A-4147-A177-3AD203B41FA5}">
                      <a16:colId xmlns:a16="http://schemas.microsoft.com/office/drawing/2014/main" val="20001"/>
                    </a:ext>
                  </a:extLst>
                </a:gridCol>
              </a:tblGrid>
              <a:tr h="1097303">
                <a:tc>
                  <a:txBody>
                    <a:bodyPr/>
                    <a:lstStyle/>
                    <a:p>
                      <a:r>
                        <a:rPr lang="en-US" sz="2800" kern="1200" dirty="0">
                          <a:effectLst/>
                        </a:rPr>
                        <a:t>Front End	</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a:effectLst/>
                        </a:rPr>
                        <a:t>Kotlin, Android Studio</a:t>
                      </a:r>
                    </a:p>
                    <a:p>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37737">
                <a:tc>
                  <a:txBody>
                    <a:bodyPr/>
                    <a:lstStyle/>
                    <a:p>
                      <a:r>
                        <a:rPr lang="en-US" sz="2800" kern="1200" dirty="0">
                          <a:effectLst/>
                        </a:rPr>
                        <a:t>Back End</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a:effectLst/>
                        </a:rPr>
                        <a:t>PHP , MySQL </a:t>
                      </a:r>
                      <a:endParaRPr lang="en-US" sz="2800" kern="1200" dirty="0">
                        <a:solidFill>
                          <a:schemeClr val="accent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27820">
                <a:tc>
                  <a:txBody>
                    <a:bodyPr/>
                    <a:lstStyle/>
                    <a:p>
                      <a:r>
                        <a:rPr lang="en-US" sz="2800" kern="1200" dirty="0">
                          <a:effectLst/>
                        </a:rPr>
                        <a:t>Development Tool</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kern="1200" dirty="0">
                          <a:solidFill>
                            <a:schemeClr val="tx1"/>
                          </a:solidFill>
                          <a:effectLst/>
                          <a:latin typeface="+mn-lt"/>
                          <a:ea typeface="+mn-ea"/>
                          <a:cs typeface="+mn-cs"/>
                        </a:rPr>
                        <a:t>VS Code, Android Studio, MS Word, MS Vision</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27031">
                <a:tc>
                  <a:txBody>
                    <a:bodyPr/>
                    <a:lstStyle/>
                    <a:p>
                      <a:r>
                        <a:rPr lang="en-AU" sz="2800" kern="1200" dirty="0">
                          <a:effectLst/>
                        </a:rPr>
                        <a:t>Application Server</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800" kern="1200" dirty="0">
                          <a:effectLst/>
                        </a:rPr>
                        <a:t>Xampp Server</a:t>
                      </a:r>
                      <a:endParaRPr lang="en-US" sz="2800" kern="1200" dirty="0">
                        <a:solidFill>
                          <a:schemeClr val="accent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27031">
                <a:tc>
                  <a:txBody>
                    <a:bodyPr/>
                    <a:lstStyle/>
                    <a:p>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kern="1200" dirty="0">
                        <a:solidFill>
                          <a:schemeClr val="accent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27031">
                <a:tc>
                  <a:txBody>
                    <a:bodyPr/>
                    <a:lstStyle/>
                    <a:p>
                      <a:r>
                        <a:rPr lang="en-AU" sz="2800" kern="1200" dirty="0">
                          <a:effectLst/>
                        </a:rPr>
                        <a:t>Project Guide</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800" kern="1200" dirty="0">
                          <a:solidFill>
                            <a:schemeClr val="tx1"/>
                          </a:solidFill>
                          <a:effectLst/>
                          <a:latin typeface="+mn-lt"/>
                          <a:ea typeface="+mn-ea"/>
                          <a:cs typeface="+mn-cs"/>
                        </a:rPr>
                        <a:t>Prof. Margee Rawal</a:t>
                      </a:r>
                      <a:endParaRPr lang="en-US" sz="2800" kern="1200" dirty="0">
                        <a:solidFill>
                          <a:schemeClr val="accent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037849">
                <a:tc>
                  <a:txBody>
                    <a:bodyPr/>
                    <a:lstStyle/>
                    <a:p>
                      <a:r>
                        <a:rPr lang="en-AU" sz="2800" kern="1200" dirty="0">
                          <a:effectLst/>
                        </a:rPr>
                        <a:t>Developed by</a:t>
                      </a:r>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Sahil Dharani  </a:t>
                      </a:r>
                      <a:r>
                        <a:rPr lang="en-US" sz="2800" dirty="0">
                          <a:solidFill>
                            <a:srgbClr val="000000"/>
                          </a:solidFill>
                          <a:latin typeface="Arial"/>
                          <a:cs typeface="Arial"/>
                          <a:sym typeface="Arial"/>
                        </a:rPr>
                        <a:t>     </a:t>
                      </a:r>
                      <a:r>
                        <a:rPr lang="en-US" sz="2800" dirty="0"/>
                        <a:t>(ET24MTCA011)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Kishan Pancholi    (ET24MTCA036)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Siya Sachan           (ET24MTCA058)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Vidhi Sorathia       (ET24MTCA065)</a:t>
                      </a:r>
                      <a:endParaRPr lang="en-US" sz="2800" kern="1200" dirty="0">
                        <a:effectLst/>
                      </a:endParaRPr>
                    </a:p>
                    <a:p>
                      <a:endParaRPr lang="en-US" sz="2800" dirty="0">
                        <a:solidFill>
                          <a:schemeClr val="accent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2" name="Title 1"/>
          <p:cNvSpPr txBox="1">
            <a:spLocks/>
          </p:cNvSpPr>
          <p:nvPr/>
        </p:nvSpPr>
        <p:spPr>
          <a:xfrm>
            <a:off x="4038600" y="647700"/>
            <a:ext cx="8153400" cy="161625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8000" dirty="0">
                <a:solidFill>
                  <a:srgbClr val="423830"/>
                </a:solidFill>
                <a:latin typeface="Bookman Old Style" pitchFamily="18" charset="0"/>
                <a:ea typeface="+mn-ea"/>
                <a:cs typeface="+mn-cs"/>
              </a:rPr>
              <a:t>Project</a:t>
            </a:r>
            <a:r>
              <a:rPr lang="en-US" sz="8000" dirty="0">
                <a:latin typeface="Bookman Old Style" pitchFamily="18" charset="0"/>
                <a:ea typeface="HP Simplified Jpan" panose="020B0500000000000000" pitchFamily="34" charset="-128"/>
              </a:rPr>
              <a:t> </a:t>
            </a:r>
            <a:r>
              <a:rPr lang="en-US" sz="8000" dirty="0">
                <a:solidFill>
                  <a:srgbClr val="423830"/>
                </a:solidFill>
                <a:latin typeface="Bookman Old Style" pitchFamily="18" charset="0"/>
                <a:ea typeface="+mn-ea"/>
                <a:cs typeface="+mn-cs"/>
              </a:rPr>
              <a:t>Profile</a:t>
            </a:r>
          </a:p>
        </p:txBody>
      </p:sp>
      <p:sp>
        <p:nvSpPr>
          <p:cNvPr id="14" name="Freeform 18"/>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414164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1441B1D0-767E-F10D-B90F-9A438DBCC9AE}"/>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F0145A0A-15F4-0FA2-6E3E-47E06799CC9C}"/>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5735C1E9-2010-AC10-E211-052DEE0F5207}"/>
              </a:ext>
            </a:extLst>
          </p:cNvPr>
          <p:cNvSpPr txBox="1"/>
          <p:nvPr/>
        </p:nvSpPr>
        <p:spPr>
          <a:xfrm>
            <a:off x="5257800" y="190500"/>
            <a:ext cx="10439400" cy="1015663"/>
          </a:xfrm>
          <a:prstGeom prst="rect">
            <a:avLst/>
          </a:prstGeom>
          <a:noFill/>
        </p:spPr>
        <p:txBody>
          <a:bodyPr wrap="square" rtlCol="0">
            <a:spAutoFit/>
          </a:bodyPr>
          <a:lstStyle/>
          <a:p>
            <a:r>
              <a:rPr lang="en-US" sz="6000" dirty="0">
                <a:latin typeface="Bookman Old Style" panose="02050604050505020204" pitchFamily="18" charset="0"/>
              </a:rPr>
              <a:t>ADMIN SIDE :</a:t>
            </a:r>
          </a:p>
        </p:txBody>
      </p:sp>
      <p:sp>
        <p:nvSpPr>
          <p:cNvPr id="5" name="TextBox 4">
            <a:extLst>
              <a:ext uri="{FF2B5EF4-FFF2-40B4-BE49-F238E27FC236}">
                <a16:creationId xmlns:a16="http://schemas.microsoft.com/office/drawing/2014/main" id="{C4764431-FE1F-EDCC-4B19-0367DE962E52}"/>
              </a:ext>
            </a:extLst>
          </p:cNvPr>
          <p:cNvSpPr txBox="1"/>
          <p:nvPr/>
        </p:nvSpPr>
        <p:spPr>
          <a:xfrm>
            <a:off x="152400" y="272887"/>
            <a:ext cx="3810000" cy="584775"/>
          </a:xfrm>
          <a:prstGeom prst="rect">
            <a:avLst/>
          </a:prstGeom>
          <a:noFill/>
        </p:spPr>
        <p:txBody>
          <a:bodyPr wrap="square" rtlCol="0">
            <a:spAutoFit/>
          </a:bodyPr>
          <a:lstStyle/>
          <a:p>
            <a:r>
              <a:rPr lang="en-US" sz="3200" dirty="0"/>
              <a:t>USE CASE DIAGRAM</a:t>
            </a:r>
          </a:p>
        </p:txBody>
      </p:sp>
      <p:pic>
        <p:nvPicPr>
          <p:cNvPr id="6" name="Picture 5" descr="A diagram of a person with many labels&#10;&#10;AI-generated content may be incorrect.">
            <a:extLst>
              <a:ext uri="{FF2B5EF4-FFF2-40B4-BE49-F238E27FC236}">
                <a16:creationId xmlns:a16="http://schemas.microsoft.com/office/drawing/2014/main" id="{260D7147-A296-41F0-59E0-D404A2E0E7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6124" y="1403513"/>
            <a:ext cx="9537895" cy="8610600"/>
          </a:xfrm>
          <a:prstGeom prst="rect">
            <a:avLst/>
          </a:prstGeom>
        </p:spPr>
      </p:pic>
    </p:spTree>
    <p:extLst>
      <p:ext uri="{BB962C8B-B14F-4D97-AF65-F5344CB8AC3E}">
        <p14:creationId xmlns:p14="http://schemas.microsoft.com/office/powerpoint/2010/main" val="400716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4D70FA19-0E38-5313-DB30-445BCBA87284}"/>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DE2FBC66-75B9-A9AD-7CB8-1ACFA354FE68}"/>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A0739A36-9290-D306-419E-6729DABD47A3}"/>
              </a:ext>
            </a:extLst>
          </p:cNvPr>
          <p:cNvSpPr txBox="1"/>
          <p:nvPr/>
        </p:nvSpPr>
        <p:spPr>
          <a:xfrm>
            <a:off x="5486400" y="190500"/>
            <a:ext cx="10439400" cy="1015663"/>
          </a:xfrm>
          <a:prstGeom prst="rect">
            <a:avLst/>
          </a:prstGeom>
          <a:noFill/>
        </p:spPr>
        <p:txBody>
          <a:bodyPr wrap="square" rtlCol="0">
            <a:spAutoFit/>
          </a:bodyPr>
          <a:lstStyle/>
          <a:p>
            <a:r>
              <a:rPr lang="en-US" sz="6000" dirty="0">
                <a:latin typeface="Bookman Old Style" panose="02050604050505020204" pitchFamily="18" charset="0"/>
              </a:rPr>
              <a:t>USER SIDE :</a:t>
            </a:r>
          </a:p>
        </p:txBody>
      </p:sp>
      <p:sp>
        <p:nvSpPr>
          <p:cNvPr id="4" name="TextBox 3">
            <a:extLst>
              <a:ext uri="{FF2B5EF4-FFF2-40B4-BE49-F238E27FC236}">
                <a16:creationId xmlns:a16="http://schemas.microsoft.com/office/drawing/2014/main" id="{45796EA9-EEB8-0919-789B-FF224F49D182}"/>
              </a:ext>
            </a:extLst>
          </p:cNvPr>
          <p:cNvSpPr txBox="1"/>
          <p:nvPr/>
        </p:nvSpPr>
        <p:spPr>
          <a:xfrm>
            <a:off x="152400" y="190500"/>
            <a:ext cx="9144000" cy="584775"/>
          </a:xfrm>
          <a:prstGeom prst="rect">
            <a:avLst/>
          </a:prstGeom>
          <a:noFill/>
        </p:spPr>
        <p:txBody>
          <a:bodyPr wrap="square">
            <a:spAutoFit/>
          </a:bodyPr>
          <a:lstStyle/>
          <a:p>
            <a:r>
              <a:rPr lang="en-US" sz="3200" dirty="0"/>
              <a:t>USE CASE DIAGRAM</a:t>
            </a:r>
          </a:p>
        </p:txBody>
      </p:sp>
      <p:pic>
        <p:nvPicPr>
          <p:cNvPr id="5" name="Picture 4" descr="A diagram of a person with text&#10;&#10;AI-generated content may be incorrect.">
            <a:extLst>
              <a:ext uri="{FF2B5EF4-FFF2-40B4-BE49-F238E27FC236}">
                <a16:creationId xmlns:a16="http://schemas.microsoft.com/office/drawing/2014/main" id="{CF41D933-95FB-1111-6BD4-1E447D3D36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1409700"/>
            <a:ext cx="10045701" cy="8534400"/>
          </a:xfrm>
          <a:prstGeom prst="rect">
            <a:avLst/>
          </a:prstGeom>
        </p:spPr>
      </p:pic>
    </p:spTree>
    <p:extLst>
      <p:ext uri="{BB962C8B-B14F-4D97-AF65-F5344CB8AC3E}">
        <p14:creationId xmlns:p14="http://schemas.microsoft.com/office/powerpoint/2010/main" val="384079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B5E67BD4-3199-FAFA-159F-F489ABB6099A}"/>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ABE16805-E37E-6C02-DAE5-D922C377B413}"/>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F71A99F7-3FA5-CF84-07F8-5910CC0B8C37}"/>
              </a:ext>
            </a:extLst>
          </p:cNvPr>
          <p:cNvSpPr txBox="1"/>
          <p:nvPr/>
        </p:nvSpPr>
        <p:spPr>
          <a:xfrm>
            <a:off x="5334000" y="190500"/>
            <a:ext cx="10439400" cy="1015663"/>
          </a:xfrm>
          <a:prstGeom prst="rect">
            <a:avLst/>
          </a:prstGeom>
          <a:noFill/>
        </p:spPr>
        <p:txBody>
          <a:bodyPr wrap="square" rtlCol="0">
            <a:spAutoFit/>
          </a:bodyPr>
          <a:lstStyle/>
          <a:p>
            <a:r>
              <a:rPr lang="en-US" sz="6000" dirty="0">
                <a:latin typeface="Bookman Old Style" panose="02050604050505020204" pitchFamily="18" charset="0"/>
              </a:rPr>
              <a:t> ADMIN SIDE:</a:t>
            </a:r>
          </a:p>
        </p:txBody>
      </p:sp>
      <p:sp>
        <p:nvSpPr>
          <p:cNvPr id="4" name="TextBox 3">
            <a:extLst>
              <a:ext uri="{FF2B5EF4-FFF2-40B4-BE49-F238E27FC236}">
                <a16:creationId xmlns:a16="http://schemas.microsoft.com/office/drawing/2014/main" id="{56C7A169-BB7D-534A-98A6-DAF69CB31E74}"/>
              </a:ext>
            </a:extLst>
          </p:cNvPr>
          <p:cNvSpPr txBox="1"/>
          <p:nvPr/>
        </p:nvSpPr>
        <p:spPr>
          <a:xfrm>
            <a:off x="150586" y="262001"/>
            <a:ext cx="6402614" cy="707886"/>
          </a:xfrm>
          <a:prstGeom prst="rect">
            <a:avLst/>
          </a:prstGeom>
          <a:noFill/>
        </p:spPr>
        <p:txBody>
          <a:bodyPr wrap="square" rtlCol="0">
            <a:spAutoFit/>
          </a:bodyPr>
          <a:lstStyle/>
          <a:p>
            <a:r>
              <a:rPr lang="en-US" sz="4000" b="1" dirty="0"/>
              <a:t>ACTIVITY DIAGRAM</a:t>
            </a:r>
          </a:p>
        </p:txBody>
      </p:sp>
      <p:pic>
        <p:nvPicPr>
          <p:cNvPr id="5" name="Picture 4" descr="A diagram of a company&#10;&#10;AI-generated content may be incorrect.">
            <a:extLst>
              <a:ext uri="{FF2B5EF4-FFF2-40B4-BE49-F238E27FC236}">
                <a16:creationId xmlns:a16="http://schemas.microsoft.com/office/drawing/2014/main" id="{B6D8385F-4114-D808-CEF0-EA185FF14FEC}"/>
              </a:ext>
            </a:extLst>
          </p:cNvPr>
          <p:cNvPicPr>
            <a:picLocks noChangeAspect="1"/>
          </p:cNvPicPr>
          <p:nvPr/>
        </p:nvPicPr>
        <p:blipFill>
          <a:blip r:embed="rId4"/>
          <a:stretch>
            <a:fillRect/>
          </a:stretch>
        </p:blipFill>
        <p:spPr>
          <a:xfrm>
            <a:off x="3375884" y="1866900"/>
            <a:ext cx="10324131" cy="7601405"/>
          </a:xfrm>
          <a:prstGeom prst="rect">
            <a:avLst/>
          </a:prstGeom>
        </p:spPr>
      </p:pic>
    </p:spTree>
    <p:extLst>
      <p:ext uri="{BB962C8B-B14F-4D97-AF65-F5344CB8AC3E}">
        <p14:creationId xmlns:p14="http://schemas.microsoft.com/office/powerpoint/2010/main" val="211954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5A6394E2-9634-8021-2C7D-82E851256CBB}"/>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53002D8D-62AA-50F1-C303-2E5C01A5D28B}"/>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E66F86F7-E348-91D3-631A-A250DBF07B02}"/>
              </a:ext>
            </a:extLst>
          </p:cNvPr>
          <p:cNvSpPr txBox="1"/>
          <p:nvPr/>
        </p:nvSpPr>
        <p:spPr>
          <a:xfrm>
            <a:off x="5791200" y="342901"/>
            <a:ext cx="10439400" cy="1015663"/>
          </a:xfrm>
          <a:prstGeom prst="rect">
            <a:avLst/>
          </a:prstGeom>
          <a:noFill/>
        </p:spPr>
        <p:txBody>
          <a:bodyPr wrap="square" rtlCol="0">
            <a:spAutoFit/>
          </a:bodyPr>
          <a:lstStyle/>
          <a:p>
            <a:r>
              <a:rPr lang="en-US" sz="6000" dirty="0">
                <a:latin typeface="Bookman Old Style" panose="02050604050505020204" pitchFamily="18" charset="0"/>
              </a:rPr>
              <a:t> USER SIDE:</a:t>
            </a:r>
          </a:p>
        </p:txBody>
      </p:sp>
      <p:sp>
        <p:nvSpPr>
          <p:cNvPr id="6" name="TextBox 5">
            <a:extLst>
              <a:ext uri="{FF2B5EF4-FFF2-40B4-BE49-F238E27FC236}">
                <a16:creationId xmlns:a16="http://schemas.microsoft.com/office/drawing/2014/main" id="{15707906-14EA-7900-35F6-DD8D9A59C40E}"/>
              </a:ext>
            </a:extLst>
          </p:cNvPr>
          <p:cNvSpPr txBox="1"/>
          <p:nvPr/>
        </p:nvSpPr>
        <p:spPr>
          <a:xfrm>
            <a:off x="406400" y="190500"/>
            <a:ext cx="9144000" cy="707886"/>
          </a:xfrm>
          <a:prstGeom prst="rect">
            <a:avLst/>
          </a:prstGeom>
          <a:noFill/>
        </p:spPr>
        <p:txBody>
          <a:bodyPr wrap="square">
            <a:spAutoFit/>
          </a:bodyPr>
          <a:lstStyle/>
          <a:p>
            <a:r>
              <a:rPr lang="en-US" sz="4000" b="1" dirty="0"/>
              <a:t>ACTIVITY DIAGRAM</a:t>
            </a:r>
          </a:p>
        </p:txBody>
      </p:sp>
      <p:pic>
        <p:nvPicPr>
          <p:cNvPr id="4" name="Picture 3" descr="A diagram of a website&#10;&#10;AI-generated content may be incorrect.">
            <a:extLst>
              <a:ext uri="{FF2B5EF4-FFF2-40B4-BE49-F238E27FC236}">
                <a16:creationId xmlns:a16="http://schemas.microsoft.com/office/drawing/2014/main" id="{6FA92C51-EF15-2FA9-7582-9DE486AA26EA}"/>
              </a:ext>
            </a:extLst>
          </p:cNvPr>
          <p:cNvPicPr>
            <a:picLocks noChangeAspect="1"/>
          </p:cNvPicPr>
          <p:nvPr/>
        </p:nvPicPr>
        <p:blipFill>
          <a:blip r:embed="rId4"/>
          <a:stretch>
            <a:fillRect/>
          </a:stretch>
        </p:blipFill>
        <p:spPr>
          <a:xfrm>
            <a:off x="3437466" y="1790700"/>
            <a:ext cx="11413068" cy="7901354"/>
          </a:xfrm>
          <a:prstGeom prst="rect">
            <a:avLst/>
          </a:prstGeom>
        </p:spPr>
      </p:pic>
    </p:spTree>
    <p:extLst>
      <p:ext uri="{BB962C8B-B14F-4D97-AF65-F5344CB8AC3E}">
        <p14:creationId xmlns:p14="http://schemas.microsoft.com/office/powerpoint/2010/main" val="3400697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B28C2951-1579-A40A-3422-7070C8705FF3}"/>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121F6038-0D7C-9EFB-E5D4-9A9EC2847C6C}"/>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5D164C66-AF95-D287-D389-6D51DEE2C84A}"/>
              </a:ext>
            </a:extLst>
          </p:cNvPr>
          <p:cNvSpPr txBox="1"/>
          <p:nvPr/>
        </p:nvSpPr>
        <p:spPr>
          <a:xfrm>
            <a:off x="-152400" y="38100"/>
            <a:ext cx="10439400" cy="1015663"/>
          </a:xfrm>
          <a:prstGeom prst="rect">
            <a:avLst/>
          </a:prstGeom>
          <a:noFill/>
        </p:spPr>
        <p:txBody>
          <a:bodyPr wrap="square" rtlCol="0">
            <a:spAutoFit/>
          </a:bodyPr>
          <a:lstStyle/>
          <a:p>
            <a:r>
              <a:rPr lang="en-US" sz="6000" dirty="0">
                <a:latin typeface="Bookman Old Style" panose="02050604050505020204" pitchFamily="18" charset="0"/>
              </a:rPr>
              <a:t> CLASS DIAGRAM:</a:t>
            </a:r>
          </a:p>
        </p:txBody>
      </p:sp>
      <p:pic>
        <p:nvPicPr>
          <p:cNvPr id="12" name="Picture 11">
            <a:extLst>
              <a:ext uri="{FF2B5EF4-FFF2-40B4-BE49-F238E27FC236}">
                <a16:creationId xmlns:a16="http://schemas.microsoft.com/office/drawing/2014/main" id="{5FB6B609-2ABA-CCBF-605C-916ECACE9556}"/>
              </a:ext>
            </a:extLst>
          </p:cNvPr>
          <p:cNvPicPr>
            <a:picLocks noChangeAspect="1"/>
          </p:cNvPicPr>
          <p:nvPr/>
        </p:nvPicPr>
        <p:blipFill>
          <a:blip r:embed="rId4"/>
          <a:stretch>
            <a:fillRect/>
          </a:stretch>
        </p:blipFill>
        <p:spPr>
          <a:xfrm>
            <a:off x="7162800" y="0"/>
            <a:ext cx="11125200" cy="10248900"/>
          </a:xfrm>
          <a:prstGeom prst="rect">
            <a:avLst/>
          </a:prstGeom>
        </p:spPr>
      </p:pic>
    </p:spTree>
    <p:extLst>
      <p:ext uri="{BB962C8B-B14F-4D97-AF65-F5344CB8AC3E}">
        <p14:creationId xmlns:p14="http://schemas.microsoft.com/office/powerpoint/2010/main" val="201776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6356E27C-2840-818C-0976-ED9E3404E0E2}"/>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CE3BCAF0-776E-841A-F866-21C49C6C320F}"/>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941FAAFC-8975-1EB0-8189-2ABADA7B6403}"/>
              </a:ext>
            </a:extLst>
          </p:cNvPr>
          <p:cNvSpPr txBox="1"/>
          <p:nvPr/>
        </p:nvSpPr>
        <p:spPr>
          <a:xfrm>
            <a:off x="3200400" y="-266700"/>
            <a:ext cx="12115800" cy="1323439"/>
          </a:xfrm>
          <a:prstGeom prst="rect">
            <a:avLst/>
          </a:prstGeom>
          <a:noFill/>
        </p:spPr>
        <p:txBody>
          <a:bodyPr wrap="square" rtlCol="0">
            <a:spAutoFit/>
          </a:bodyPr>
          <a:lstStyle/>
          <a:p>
            <a:r>
              <a:rPr lang="en-US" sz="8000" dirty="0">
                <a:latin typeface="Bookman Old Style" panose="02050604050505020204" pitchFamily="18" charset="0"/>
              </a:rPr>
              <a:t> </a:t>
            </a:r>
            <a:r>
              <a:rPr lang="en-US" sz="6000" dirty="0">
                <a:latin typeface="Bookman Old Style" panose="02050604050505020204" pitchFamily="18" charset="0"/>
              </a:rPr>
              <a:t>INTERACTION DIAGRAM:</a:t>
            </a:r>
          </a:p>
        </p:txBody>
      </p:sp>
      <p:pic>
        <p:nvPicPr>
          <p:cNvPr id="5" name="Picture 4">
            <a:extLst>
              <a:ext uri="{FF2B5EF4-FFF2-40B4-BE49-F238E27FC236}">
                <a16:creationId xmlns:a16="http://schemas.microsoft.com/office/drawing/2014/main" id="{1BFA47D0-A3CD-75E5-9953-B74B046314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00" y="1056740"/>
            <a:ext cx="9525000" cy="9108648"/>
          </a:xfrm>
          <a:prstGeom prst="rect">
            <a:avLst/>
          </a:prstGeom>
        </p:spPr>
      </p:pic>
    </p:spTree>
    <p:extLst>
      <p:ext uri="{BB962C8B-B14F-4D97-AF65-F5344CB8AC3E}">
        <p14:creationId xmlns:p14="http://schemas.microsoft.com/office/powerpoint/2010/main" val="337790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03EB8ED8-F4EC-C7D4-B3FE-39C1189F05AC}"/>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4C921325-93F0-1FB6-836C-90BFA1E7AD9E}"/>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3" cstate="print">
              <a:extLst>
                <a:ext uri="{96DAC541-7B7A-43D3-8B79-37D633B846F1}">
                  <asvg:svgBlip xmlns:asvg="http://schemas.microsoft.com/office/drawing/2016/SVG/main" r:embed="rId4"/>
                </a:ext>
              </a:extLst>
            </a:blip>
            <a:stretch>
              <a:fillRect/>
            </a:stretch>
          </a:blipFill>
        </p:spPr>
      </p:sp>
      <p:sp>
        <p:nvSpPr>
          <p:cNvPr id="2" name="TextBox 1">
            <a:extLst>
              <a:ext uri="{FF2B5EF4-FFF2-40B4-BE49-F238E27FC236}">
                <a16:creationId xmlns:a16="http://schemas.microsoft.com/office/drawing/2014/main" id="{8A75149E-E652-2726-6A09-C8F934A969BE}"/>
              </a:ext>
            </a:extLst>
          </p:cNvPr>
          <p:cNvSpPr txBox="1"/>
          <p:nvPr/>
        </p:nvSpPr>
        <p:spPr>
          <a:xfrm>
            <a:off x="228600" y="0"/>
            <a:ext cx="7315200" cy="1015663"/>
          </a:xfrm>
          <a:prstGeom prst="rect">
            <a:avLst/>
          </a:prstGeom>
          <a:noFill/>
        </p:spPr>
        <p:txBody>
          <a:bodyPr wrap="square" rtlCol="0">
            <a:spAutoFit/>
          </a:bodyPr>
          <a:lstStyle/>
          <a:p>
            <a:r>
              <a:rPr lang="en-IN" sz="4400" b="1" dirty="0"/>
              <a:t>External</a:t>
            </a:r>
            <a:r>
              <a:rPr lang="en-IN" b="1" dirty="0"/>
              <a:t> </a:t>
            </a:r>
            <a:r>
              <a:rPr lang="en-IN" sz="4400" b="1" dirty="0"/>
              <a:t> API Documentation </a:t>
            </a:r>
            <a:r>
              <a:rPr lang="en-US" sz="6000" dirty="0">
                <a:latin typeface="Bookman Old Style" panose="02050604050505020204" pitchFamily="18" charset="0"/>
              </a:rPr>
              <a:t>:</a:t>
            </a:r>
          </a:p>
        </p:txBody>
      </p:sp>
      <p:graphicFrame>
        <p:nvGraphicFramePr>
          <p:cNvPr id="3" name="Table 2">
            <a:extLst>
              <a:ext uri="{FF2B5EF4-FFF2-40B4-BE49-F238E27FC236}">
                <a16:creationId xmlns:a16="http://schemas.microsoft.com/office/drawing/2014/main" id="{5CBB2345-53A5-08CF-1C3D-75484D620A19}"/>
              </a:ext>
            </a:extLst>
          </p:cNvPr>
          <p:cNvGraphicFramePr>
            <a:graphicFrameLocks noGrp="1"/>
          </p:cNvGraphicFramePr>
          <p:nvPr>
            <p:extLst>
              <p:ext uri="{D42A27DB-BD31-4B8C-83A1-F6EECF244321}">
                <p14:modId xmlns:p14="http://schemas.microsoft.com/office/powerpoint/2010/main" val="3371920658"/>
              </p:ext>
            </p:extLst>
          </p:nvPr>
        </p:nvGraphicFramePr>
        <p:xfrm>
          <a:off x="381000" y="1015662"/>
          <a:ext cx="14401800" cy="4127839"/>
        </p:xfrm>
        <a:graphic>
          <a:graphicData uri="http://schemas.openxmlformats.org/drawingml/2006/table">
            <a:tbl>
              <a:tblPr firstRow="1" bandRow="1">
                <a:tableStyleId>{5C22544A-7EE6-4342-B048-85BDC9FD1C3A}</a:tableStyleId>
              </a:tblPr>
              <a:tblGrid>
                <a:gridCol w="4260888">
                  <a:extLst>
                    <a:ext uri="{9D8B030D-6E8A-4147-A177-3AD203B41FA5}">
                      <a16:colId xmlns:a16="http://schemas.microsoft.com/office/drawing/2014/main" val="1072573450"/>
                    </a:ext>
                  </a:extLst>
                </a:gridCol>
                <a:gridCol w="2673312">
                  <a:extLst>
                    <a:ext uri="{9D8B030D-6E8A-4147-A177-3AD203B41FA5}">
                      <a16:colId xmlns:a16="http://schemas.microsoft.com/office/drawing/2014/main" val="2472122776"/>
                    </a:ext>
                  </a:extLst>
                </a:gridCol>
                <a:gridCol w="3867150">
                  <a:extLst>
                    <a:ext uri="{9D8B030D-6E8A-4147-A177-3AD203B41FA5}">
                      <a16:colId xmlns:a16="http://schemas.microsoft.com/office/drawing/2014/main" val="1247769445"/>
                    </a:ext>
                  </a:extLst>
                </a:gridCol>
                <a:gridCol w="3600450">
                  <a:extLst>
                    <a:ext uri="{9D8B030D-6E8A-4147-A177-3AD203B41FA5}">
                      <a16:colId xmlns:a16="http://schemas.microsoft.com/office/drawing/2014/main" val="2507944509"/>
                    </a:ext>
                  </a:extLst>
                </a:gridCol>
              </a:tblGrid>
              <a:tr h="761177">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API / Service</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Purpose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l">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How It Works</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Used In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1142523"/>
                  </a:ext>
                </a:extLst>
              </a:tr>
              <a:tr h="1683331">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India Postal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Pincode</a:t>
                      </a: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API</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Auto-location fill</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l">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When user enters PIN code, API </a:t>
                      </a:r>
                    </a:p>
                    <a:p>
                      <a:pPr marL="0" marR="0" algn="l">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returns </a:t>
                      </a: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city &amp; state</a:t>
                      </a: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so user doesn’t   </a:t>
                      </a:r>
                    </a:p>
                    <a:p>
                      <a:pPr marL="0" marR="0" algn="l">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need to type manually</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Address Add Screen </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06678462"/>
                  </a:ext>
                </a:extLst>
              </a:tr>
              <a:tr h="1683331">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Razorpay</a:t>
                      </a: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Payment Gateway API</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Secure online payment</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l">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Provides </a:t>
                      </a: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UPI, Card,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Netbanking</a:t>
                      </a: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0" marR="0" algn="l">
                        <a:lnSpc>
                          <a:spcPct val="100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Wallet</a:t>
                      </a: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payment methods for   </a:t>
                      </a:r>
                    </a:p>
                    <a:p>
                      <a:pPr marL="0" marR="0" algn="l">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completing orders digitally</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Payment Page </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01730769"/>
                  </a:ext>
                </a:extLst>
              </a:tr>
            </a:tbl>
          </a:graphicData>
        </a:graphic>
      </p:graphicFrame>
    </p:spTree>
    <p:extLst>
      <p:ext uri="{BB962C8B-B14F-4D97-AF65-F5344CB8AC3E}">
        <p14:creationId xmlns:p14="http://schemas.microsoft.com/office/powerpoint/2010/main" val="310571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5984F528-5590-6D86-56A0-3735C452B436}"/>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A9FB283E-1D69-90EE-59D1-D94A2A06B8B9}"/>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2" name="TextBox 1">
            <a:extLst>
              <a:ext uri="{FF2B5EF4-FFF2-40B4-BE49-F238E27FC236}">
                <a16:creationId xmlns:a16="http://schemas.microsoft.com/office/drawing/2014/main" id="{657F1B2B-EEB3-8E07-7767-6DEC805266D5}"/>
              </a:ext>
            </a:extLst>
          </p:cNvPr>
          <p:cNvSpPr txBox="1"/>
          <p:nvPr/>
        </p:nvSpPr>
        <p:spPr>
          <a:xfrm>
            <a:off x="228600" y="0"/>
            <a:ext cx="7315200" cy="1015663"/>
          </a:xfrm>
          <a:prstGeom prst="rect">
            <a:avLst/>
          </a:prstGeom>
          <a:noFill/>
        </p:spPr>
        <p:txBody>
          <a:bodyPr wrap="square" rtlCol="0">
            <a:spAutoFit/>
          </a:bodyPr>
          <a:lstStyle/>
          <a:p>
            <a:r>
              <a:rPr lang="en-IN" sz="4400" b="1" dirty="0"/>
              <a:t>Internal API Documentation </a:t>
            </a:r>
            <a:r>
              <a:rPr lang="en-US" sz="6000" dirty="0">
                <a:latin typeface="Bookman Old Style" panose="02050604050505020204" pitchFamily="18" charset="0"/>
              </a:rPr>
              <a:t>:</a:t>
            </a:r>
          </a:p>
        </p:txBody>
      </p:sp>
      <p:graphicFrame>
        <p:nvGraphicFramePr>
          <p:cNvPr id="13" name="Table 12">
            <a:extLst>
              <a:ext uri="{FF2B5EF4-FFF2-40B4-BE49-F238E27FC236}">
                <a16:creationId xmlns:a16="http://schemas.microsoft.com/office/drawing/2014/main" id="{3F41D7EC-5E72-1CF2-A2ED-D754B4A820D3}"/>
              </a:ext>
            </a:extLst>
          </p:cNvPr>
          <p:cNvGraphicFramePr>
            <a:graphicFrameLocks noGrp="1"/>
          </p:cNvGraphicFramePr>
          <p:nvPr>
            <p:extLst>
              <p:ext uri="{D42A27DB-BD31-4B8C-83A1-F6EECF244321}">
                <p14:modId xmlns:p14="http://schemas.microsoft.com/office/powerpoint/2010/main" val="1402488463"/>
              </p:ext>
            </p:extLst>
          </p:nvPr>
        </p:nvGraphicFramePr>
        <p:xfrm>
          <a:off x="381000" y="1015662"/>
          <a:ext cx="11740244" cy="8852243"/>
        </p:xfrm>
        <a:graphic>
          <a:graphicData uri="http://schemas.openxmlformats.org/drawingml/2006/table">
            <a:tbl>
              <a:tblPr firstRow="1" bandRow="1">
                <a:tableStyleId>{5C22544A-7EE6-4342-B048-85BDC9FD1C3A}</a:tableStyleId>
              </a:tblPr>
              <a:tblGrid>
                <a:gridCol w="3129644">
                  <a:extLst>
                    <a:ext uri="{9D8B030D-6E8A-4147-A177-3AD203B41FA5}">
                      <a16:colId xmlns:a16="http://schemas.microsoft.com/office/drawing/2014/main" val="1414316789"/>
                    </a:ext>
                  </a:extLst>
                </a:gridCol>
                <a:gridCol w="8610600">
                  <a:extLst>
                    <a:ext uri="{9D8B030D-6E8A-4147-A177-3AD203B41FA5}">
                      <a16:colId xmlns:a16="http://schemas.microsoft.com/office/drawing/2014/main" val="3069176157"/>
                    </a:ext>
                  </a:extLst>
                </a:gridCol>
              </a:tblGrid>
              <a:tr h="460360">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File Name</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Detailed Description</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96607361"/>
                  </a:ext>
                </a:extLst>
              </a:tr>
              <a:tr h="727827">
                <a:tc>
                  <a:txBody>
                    <a:bodyPr/>
                    <a:lstStyle/>
                    <a:p>
                      <a:pPr marL="0" marR="0">
                        <a:lnSpc>
                          <a:spcPct val="107000"/>
                        </a:lnSpc>
                        <a:spcAft>
                          <a:spcPts val="800"/>
                        </a:spcAft>
                        <a:buNone/>
                      </a:pP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register.php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Creates a new user account. Validates basic details like name, email, phone, password and stores them in DB. Returns success/failure response.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90755712"/>
                  </a:ext>
                </a:extLst>
              </a:tr>
              <a:tr h="727827">
                <a:tc>
                  <a:txBody>
                    <a:bodyPr/>
                    <a:lstStyle/>
                    <a:p>
                      <a:pPr marL="0" marR="0">
                        <a:lnSpc>
                          <a:spcPct val="107000"/>
                        </a:lnSpc>
                        <a:spcAft>
                          <a:spcPts val="800"/>
                        </a:spcAft>
                        <a:buNone/>
                      </a:pP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login_api.php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Authenticates user using email/phone + password. On success returns user profile, id, session-related data to enter the app.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6911755"/>
                  </a:ext>
                </a:extLst>
              </a:tr>
              <a:tr h="727827">
                <a:tc>
                  <a:txBody>
                    <a:bodyPr/>
                    <a:lstStyle/>
                    <a:p>
                      <a:pPr marL="0" marR="0">
                        <a:lnSpc>
                          <a:spcPct val="107000"/>
                        </a:lnSpc>
                        <a:spcAft>
                          <a:spcPts val="800"/>
                        </a:spcAft>
                        <a:buNone/>
                      </a:pP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get_user_details.php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Fetches complete profile information of logged-in user such as name, email, phone, address, profile pic etc.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62344162"/>
                  </a:ext>
                </a:extLst>
              </a:tr>
              <a:tr h="727827">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editprofileapi.php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Allows modification of user details. Used when user edits profile inside app setting.</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28573814"/>
                  </a:ext>
                </a:extLst>
              </a:tr>
              <a:tr h="727827">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update_profile.php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An alternate API mainly used to update profile fields like name/image/phone without affecting authentication.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74099879"/>
                  </a:ext>
                </a:extLst>
              </a:tr>
              <a:tr h="727827">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userapi.php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General user management API (often used by admin or backend) to fetch or update user details globally.</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65718075"/>
                  </a:ext>
                </a:extLst>
              </a:tr>
              <a:tr h="727827">
                <a:tc>
                  <a:txBody>
                    <a:bodyPr/>
                    <a:lstStyle/>
                    <a:p>
                      <a:pPr marL="0" marR="0">
                        <a:lnSpc>
                          <a:spcPct val="107000"/>
                        </a:lnSpc>
                        <a:spcAft>
                          <a:spcPts val="800"/>
                        </a:spcAft>
                        <a:buNone/>
                      </a:pP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address_add.php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Adds a new address entry for a user including house no, street, city, zip, landmark etc.</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98370171"/>
                  </a:ext>
                </a:extLst>
              </a:tr>
              <a:tr h="727827">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address_get.php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Retrieves </a:t>
                      </a:r>
                      <a:r>
                        <a:rPr lang="en-IN" sz="2000" i="1" kern="100">
                          <a:effectLst/>
                          <a:latin typeface="Times New Roman" panose="02020603050405020304" pitchFamily="18" charset="0"/>
                          <a:ea typeface="Aptos" panose="020B0004020202020204" pitchFamily="34" charset="0"/>
                          <a:cs typeface="Times New Roman" panose="02020603050405020304" pitchFamily="18" charset="0"/>
                        </a:rPr>
                        <a:t>all</a:t>
                      </a:r>
                      <a:r>
                        <a:rPr lang="en-IN" sz="2000" kern="100">
                          <a:effectLst/>
                          <a:latin typeface="Times New Roman" panose="02020603050405020304" pitchFamily="18" charset="0"/>
                          <a:ea typeface="Aptos" panose="020B0004020202020204" pitchFamily="34" charset="0"/>
                          <a:cs typeface="Times New Roman" panose="02020603050405020304" pitchFamily="18" charset="0"/>
                        </a:rPr>
                        <a:t> saved addresses of the user, used inside address selection page.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373602"/>
                  </a:ext>
                </a:extLst>
              </a:tr>
              <a:tr h="460360">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address_get_single.php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Fetch only one specific address using address ID – helpful when editing.</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26662454"/>
                  </a:ext>
                </a:extLst>
              </a:tr>
              <a:tr h="460360">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address_update.php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Updates an existing address record selected by user.</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4845133"/>
                  </a:ext>
                </a:extLst>
              </a:tr>
              <a:tr h="460360">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address_delete.php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Deletes a saved address permanently from database.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5346233"/>
                  </a:ext>
                </a:extLst>
              </a:tr>
              <a:tr h="727827">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address_set_default.php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Marks selected address as primary/default. Only one default allowed per user.</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3533455"/>
                  </a:ext>
                </a:extLst>
              </a:tr>
              <a:tr h="460360">
                <a:tc>
                  <a:txBody>
                    <a:bodyPr/>
                    <a:lstStyle/>
                    <a:p>
                      <a:pPr marL="0" marR="0">
                        <a:lnSpc>
                          <a:spcPct val="107000"/>
                        </a:lnSpc>
                        <a:spcAft>
                          <a:spcPts val="800"/>
                        </a:spcAft>
                        <a:buNone/>
                      </a:pPr>
                      <a:r>
                        <a:rPr lang="en-IN" sz="2000" b="1" kern="100">
                          <a:effectLst/>
                          <a:latin typeface="Times New Roman" panose="02020603050405020304" pitchFamily="18" charset="0"/>
                          <a:ea typeface="Aptos" panose="020B0004020202020204" pitchFamily="34" charset="0"/>
                          <a:cs typeface="Times New Roman" panose="02020603050405020304" pitchFamily="18" charset="0"/>
                        </a:rPr>
                        <a:t>address_get_default.php</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Used during checkout to automatically fetch default delivery address.</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48316733"/>
                  </a:ext>
                </a:extLst>
              </a:tr>
            </a:tbl>
          </a:graphicData>
        </a:graphic>
      </p:graphicFrame>
    </p:spTree>
    <p:extLst>
      <p:ext uri="{BB962C8B-B14F-4D97-AF65-F5344CB8AC3E}">
        <p14:creationId xmlns:p14="http://schemas.microsoft.com/office/powerpoint/2010/main" val="142394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5AF747B5-0DD9-0C8C-0634-2A943E397CFB}"/>
            </a:ext>
          </a:extLst>
        </p:cNvPr>
        <p:cNvGrpSpPr/>
        <p:nvPr/>
      </p:nvGrpSpPr>
      <p:grpSpPr>
        <a:xfrm>
          <a:off x="0" y="0"/>
          <a:ext cx="0" cy="0"/>
          <a:chOff x="0" y="0"/>
          <a:chExt cx="0" cy="0"/>
        </a:xfrm>
      </p:grpSpPr>
      <p:sp>
        <p:nvSpPr>
          <p:cNvPr id="14" name="Freeform 18">
            <a:extLst>
              <a:ext uri="{FF2B5EF4-FFF2-40B4-BE49-F238E27FC236}">
                <a16:creationId xmlns:a16="http://schemas.microsoft.com/office/drawing/2014/main" id="{593850A8-552D-AAE1-92EC-72486EEC97D4}"/>
              </a:ext>
            </a:extLst>
          </p:cNvPr>
          <p:cNvSpPr/>
          <p:nvPr/>
        </p:nvSpPr>
        <p:spPr>
          <a:xfrm>
            <a:off x="15925800" y="190500"/>
            <a:ext cx="1981200" cy="2073452"/>
          </a:xfrm>
          <a:custGeom>
            <a:avLst/>
            <a:gdLst/>
            <a:ahLst/>
            <a:cxnLst/>
            <a:rect l="l" t="t" r="r" b="b"/>
            <a:pathLst>
              <a:path w="1109310" h="1041364">
                <a:moveTo>
                  <a:pt x="0" y="0"/>
                </a:moveTo>
                <a:lnTo>
                  <a:pt x="1109310" y="0"/>
                </a:lnTo>
                <a:lnTo>
                  <a:pt x="1109310" y="1041365"/>
                </a:lnTo>
                <a:lnTo>
                  <a:pt x="0" y="1041365"/>
                </a:lnTo>
                <a:lnTo>
                  <a:pt x="0" y="0"/>
                </a:lnTo>
                <a:close/>
              </a:path>
            </a:pathLst>
          </a:custGeom>
          <a:blipFill>
            <a:blip r:embed="rId3" cstate="print">
              <a:extLst>
                <a:ext uri="{96DAC541-7B7A-43D3-8B79-37D633B846F1}">
                  <asvg:svgBlip xmlns:asvg="http://schemas.microsoft.com/office/drawing/2016/SVG/main" r:embed="rId4"/>
                </a:ext>
              </a:extLst>
            </a:blip>
            <a:stretch>
              <a:fillRect/>
            </a:stretch>
          </a:blipFill>
        </p:spPr>
      </p:sp>
      <p:graphicFrame>
        <p:nvGraphicFramePr>
          <p:cNvPr id="13" name="Table 12">
            <a:extLst>
              <a:ext uri="{FF2B5EF4-FFF2-40B4-BE49-F238E27FC236}">
                <a16:creationId xmlns:a16="http://schemas.microsoft.com/office/drawing/2014/main" id="{A1D4018A-AD22-0E8E-6584-B98969AB396C}"/>
              </a:ext>
            </a:extLst>
          </p:cNvPr>
          <p:cNvGraphicFramePr>
            <a:graphicFrameLocks noGrp="1"/>
          </p:cNvGraphicFramePr>
          <p:nvPr>
            <p:extLst>
              <p:ext uri="{D42A27DB-BD31-4B8C-83A1-F6EECF244321}">
                <p14:modId xmlns:p14="http://schemas.microsoft.com/office/powerpoint/2010/main" val="608691112"/>
              </p:ext>
            </p:extLst>
          </p:nvPr>
        </p:nvGraphicFramePr>
        <p:xfrm>
          <a:off x="381000" y="190500"/>
          <a:ext cx="11740244" cy="9655435"/>
        </p:xfrm>
        <a:graphic>
          <a:graphicData uri="http://schemas.openxmlformats.org/drawingml/2006/table">
            <a:tbl>
              <a:tblPr firstRow="1" bandRow="1">
                <a:tableStyleId>{5C22544A-7EE6-4342-B048-85BDC9FD1C3A}</a:tableStyleId>
              </a:tblPr>
              <a:tblGrid>
                <a:gridCol w="3129644">
                  <a:extLst>
                    <a:ext uri="{9D8B030D-6E8A-4147-A177-3AD203B41FA5}">
                      <a16:colId xmlns:a16="http://schemas.microsoft.com/office/drawing/2014/main" val="1414316789"/>
                    </a:ext>
                  </a:extLst>
                </a:gridCol>
                <a:gridCol w="8610600">
                  <a:extLst>
                    <a:ext uri="{9D8B030D-6E8A-4147-A177-3AD203B41FA5}">
                      <a16:colId xmlns:a16="http://schemas.microsoft.com/office/drawing/2014/main" val="3069176157"/>
                    </a:ext>
                  </a:extLst>
                </a:gridCol>
              </a:tblGrid>
              <a:tr h="434451">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File Name</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Detailed Description</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96607361"/>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category.php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Returns complete list of product categories displayed on home screen.</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90755712"/>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sub_catapi.php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Fetches sub-categories according to selected parent category.</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6911755"/>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prod_from_cate_api.php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Returns list of products based on category/filter. Supports pagination/search.</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62344162"/>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searchApi.php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Searches products globally using text keywords – used in search bar feature.</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28573814"/>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bannerapi.php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Fetches banner images for slideshow/carousel on homepage. Helps in promotions.</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74099879"/>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getDiscountApi.php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Provides discount values or offers related to selected products or carts.</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65718075"/>
                  </a:ext>
                </a:extLst>
              </a:tr>
              <a:tr h="737419">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add_orderapi.php</a:t>
                      </a: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Creates a new order record after user places order from cart. Stores item list, price, payment status, address.</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98370171"/>
                  </a:ext>
                </a:extLst>
              </a:tr>
              <a:tr h="606993">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confirm_order_api.php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Confirms order once placed. Usually triggered after payment success or final review.</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8373602"/>
                  </a:ext>
                </a:extLst>
              </a:tr>
              <a:tr h="559598">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cancel_order_api.php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Cancels order requested by customer. Updates status &amp; restores inventory if needed.</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26662454"/>
                  </a:ext>
                </a:extLst>
              </a:tr>
              <a:tr h="524936">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removeOrder.php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Deletes or force removes order entry. Usually admin-level functionality.</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4845133"/>
                  </a:ext>
                </a:extLst>
              </a:tr>
              <a:tr h="600835">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getorder_api.php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a:effectLst/>
                          <a:latin typeface="Times New Roman" panose="02020603050405020304" pitchFamily="18" charset="0"/>
                          <a:ea typeface="Aptos" panose="020B0004020202020204" pitchFamily="34" charset="0"/>
                          <a:cs typeface="Times New Roman" panose="02020603050405020304" pitchFamily="18" charset="0"/>
                        </a:rPr>
                        <a:t>Returns current/active orders placed by user including status like packed/shipped/delivered.</a:t>
                      </a:r>
                      <a:endParaRPr lang="en-US" sz="20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5346233"/>
                  </a:ext>
                </a:extLst>
              </a:tr>
              <a:tr h="686862">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order_history_api.php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Fetches past completed or cancelled orders for history section inside profile.</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3533455"/>
                  </a:ext>
                </a:extLst>
              </a:tr>
              <a:tr h="643133">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updateqtyapi.php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Updates quantity for order or cart items. Handles increment/decrement stock logic.</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40391133"/>
                  </a:ext>
                </a:extLst>
              </a:tr>
              <a:tr h="643133">
                <a:tc>
                  <a:txBody>
                    <a:bodyPr/>
                    <a:lstStyle/>
                    <a:p>
                      <a:pPr marL="0" marR="0">
                        <a:lnSpc>
                          <a:spcPct val="107000"/>
                        </a:lnSpc>
                        <a:spcAft>
                          <a:spcPts val="800"/>
                        </a:spcAft>
                        <a:buNone/>
                      </a:pPr>
                      <a:r>
                        <a:rPr lang="en-IN" sz="20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IN" sz="2000" b="1" kern="100" dirty="0" err="1">
                          <a:effectLst/>
                          <a:latin typeface="Times New Roman" panose="02020603050405020304" pitchFamily="18" charset="0"/>
                          <a:ea typeface="Aptos" panose="020B0004020202020204" pitchFamily="34" charset="0"/>
                          <a:cs typeface="Times New Roman" panose="02020603050405020304" pitchFamily="18" charset="0"/>
                        </a:rPr>
                        <a:t>coupen.php</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07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Validates coupon code input by user. Returns discount price, applicable items, expiry check etc.</a:t>
                      </a:r>
                      <a:endParaRPr lang="en-US" sz="20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34534444"/>
                  </a:ext>
                </a:extLst>
              </a:tr>
            </a:tbl>
          </a:graphicData>
        </a:graphic>
      </p:graphicFrame>
    </p:spTree>
    <p:extLst>
      <p:ext uri="{BB962C8B-B14F-4D97-AF65-F5344CB8AC3E}">
        <p14:creationId xmlns:p14="http://schemas.microsoft.com/office/powerpoint/2010/main" val="272453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grpSp>
        <p:nvGrpSpPr>
          <p:cNvPr id="3" name="Group 3"/>
          <p:cNvGrpSpPr/>
          <p:nvPr/>
        </p:nvGrpSpPr>
        <p:grpSpPr>
          <a:xfrm>
            <a:off x="62345" y="1485900"/>
            <a:ext cx="8319655" cy="8801100"/>
            <a:chOff x="0" y="0"/>
            <a:chExt cx="14875934" cy="13716000"/>
          </a:xfrm>
        </p:grpSpPr>
        <p:pic>
          <p:nvPicPr>
            <p:cNvPr id="4" name="Picture 4"/>
            <p:cNvPicPr>
              <a:picLocks noChangeAspect="1"/>
            </p:cNvPicPr>
            <p:nvPr/>
          </p:nvPicPr>
          <p:blipFill>
            <a:blip r:embed="rId2" cstate="print"/>
            <a:srcRect l="18832" r="8908"/>
            <a:stretch>
              <a:fillRect/>
            </a:stretch>
          </p:blipFill>
          <p:spPr>
            <a:xfrm flipH="1">
              <a:off x="0" y="0"/>
              <a:ext cx="14875934" cy="13716000"/>
            </a:xfrm>
            <a:prstGeom prst="rect">
              <a:avLst/>
            </a:prstGeom>
          </p:spPr>
        </p:pic>
      </p:grpSp>
      <p:sp>
        <p:nvSpPr>
          <p:cNvPr id="5" name="TextBox 5"/>
          <p:cNvSpPr txBox="1"/>
          <p:nvPr/>
        </p:nvSpPr>
        <p:spPr>
          <a:xfrm>
            <a:off x="3089296" y="856922"/>
            <a:ext cx="12109408" cy="1886414"/>
          </a:xfrm>
          <a:prstGeom prst="rect">
            <a:avLst/>
          </a:prstGeom>
        </p:spPr>
        <p:txBody>
          <a:bodyPr lIns="0" tIns="0" rIns="0" bIns="0" rtlCol="0" anchor="t">
            <a:spAutoFit/>
          </a:bodyPr>
          <a:lstStyle/>
          <a:p>
            <a:pPr marL="0" lvl="0" indent="0" algn="ctr">
              <a:lnSpc>
                <a:spcPts val="15993"/>
              </a:lnSpc>
              <a:spcBef>
                <a:spcPct val="0"/>
              </a:spcBef>
            </a:pPr>
            <a:r>
              <a:rPr lang="en-US" sz="11000" dirty="0">
                <a:solidFill>
                  <a:srgbClr val="423830"/>
                </a:solidFill>
                <a:latin typeface="Bookman Old Style" pitchFamily="18" charset="0"/>
              </a:rPr>
              <a:t>Why FurniZone?</a:t>
            </a:r>
            <a:endParaRPr lang="en-US" sz="11000" u="none" strike="noStrike" dirty="0">
              <a:solidFill>
                <a:srgbClr val="423830"/>
              </a:solidFill>
              <a:latin typeface="Bookman Old Style" pitchFamily="18" charset="0"/>
            </a:endParaRPr>
          </a:p>
        </p:txBody>
      </p:sp>
      <p:sp>
        <p:nvSpPr>
          <p:cNvPr id="9" name="TextBox 9"/>
          <p:cNvSpPr txBox="1"/>
          <p:nvPr/>
        </p:nvSpPr>
        <p:spPr>
          <a:xfrm>
            <a:off x="8991600" y="3924374"/>
            <a:ext cx="8355110" cy="3924151"/>
          </a:xfrm>
          <a:prstGeom prst="rect">
            <a:avLst/>
          </a:prstGeom>
        </p:spPr>
        <p:txBody>
          <a:bodyPr wrap="square" lIns="0" tIns="0" rIns="0" bIns="0" rtlCol="0" anchor="t">
            <a:spAutoFit/>
          </a:bodyPr>
          <a:lstStyle/>
          <a:p>
            <a:pPr algn="just">
              <a:lnSpc>
                <a:spcPts val="3423"/>
              </a:lnSpc>
            </a:pPr>
            <a:r>
              <a:rPr lang="en-US" sz="2400" dirty="0">
                <a:latin typeface="Bookman Old Style" panose="02050604050505020204" pitchFamily="18" charset="0"/>
                <a:cs typeface="Arial" panose="020B0604020202020204" pitchFamily="34" charset="0"/>
              </a:rPr>
              <a:t>Step into the world of FurniZone and discover a vast array of furniture options designed to elevate your living and working environments. From elegant living room sets to cozy bedroom essentials, ergonomic office solutions to outdoor oasis inspirations, our curated collection offers something for every taste and preference. With a diverse range of styles, materials, and designs to choose from, you'll find inspiration at every turn.</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1028700" y="990600"/>
            <a:ext cx="16230600" cy="1384995"/>
          </a:xfrm>
          <a:prstGeom prst="rect">
            <a:avLst/>
          </a:prstGeom>
        </p:spPr>
        <p:txBody>
          <a:bodyPr lIns="0" tIns="0" rIns="0" bIns="0" rtlCol="0" anchor="t">
            <a:spAutoFit/>
          </a:bodyPr>
          <a:lstStyle/>
          <a:p>
            <a:pPr marL="0" lvl="0" indent="0" algn="ctr">
              <a:lnSpc>
                <a:spcPts val="10800"/>
              </a:lnSpc>
              <a:spcBef>
                <a:spcPct val="0"/>
              </a:spcBef>
            </a:pPr>
            <a:r>
              <a:rPr lang="en-US" sz="7000" dirty="0">
                <a:solidFill>
                  <a:srgbClr val="423830"/>
                </a:solidFill>
                <a:latin typeface="Bookman Old Style" pitchFamily="18" charset="0"/>
              </a:rPr>
              <a:t>Types of furniture's in FurniZone</a:t>
            </a:r>
            <a:endParaRPr lang="en-US" sz="7000" u="none" strike="noStrike" dirty="0">
              <a:solidFill>
                <a:srgbClr val="423830"/>
              </a:solidFill>
              <a:latin typeface="Bookman Old Style" pitchFamily="18" charset="0"/>
            </a:endParaRPr>
          </a:p>
        </p:txBody>
      </p:sp>
      <p:sp>
        <p:nvSpPr>
          <p:cNvPr id="17" name="TextBox 17"/>
          <p:cNvSpPr txBox="1"/>
          <p:nvPr/>
        </p:nvSpPr>
        <p:spPr>
          <a:xfrm>
            <a:off x="763160" y="8302394"/>
            <a:ext cx="3364925" cy="466725"/>
          </a:xfrm>
          <a:prstGeom prst="rect">
            <a:avLst/>
          </a:prstGeom>
        </p:spPr>
        <p:txBody>
          <a:bodyPr lIns="0" tIns="0" rIns="0" bIns="0" rtlCol="0" anchor="t">
            <a:spAutoFit/>
          </a:bodyPr>
          <a:lstStyle/>
          <a:p>
            <a:pPr marL="0" lvl="0" indent="0" algn="ctr">
              <a:lnSpc>
                <a:spcPts val="3600"/>
              </a:lnSpc>
              <a:spcBef>
                <a:spcPct val="0"/>
              </a:spcBef>
            </a:pPr>
            <a:r>
              <a:rPr lang="en-US" sz="3000" u="none" strike="noStrike" dirty="0">
                <a:solidFill>
                  <a:srgbClr val="423830"/>
                </a:solidFill>
                <a:latin typeface="TT Corals Semi-Bold"/>
              </a:rPr>
              <a:t>Sofa</a:t>
            </a:r>
          </a:p>
        </p:txBody>
      </p:sp>
      <p:sp>
        <p:nvSpPr>
          <p:cNvPr id="19" name="TextBox 19"/>
          <p:cNvSpPr txBox="1"/>
          <p:nvPr/>
        </p:nvSpPr>
        <p:spPr>
          <a:xfrm>
            <a:off x="5211855" y="8302393"/>
            <a:ext cx="3364925" cy="466725"/>
          </a:xfrm>
          <a:prstGeom prst="rect">
            <a:avLst/>
          </a:prstGeom>
        </p:spPr>
        <p:txBody>
          <a:bodyPr lIns="0" tIns="0" rIns="0" bIns="0" rtlCol="0" anchor="t">
            <a:spAutoFit/>
          </a:bodyPr>
          <a:lstStyle/>
          <a:p>
            <a:pPr marL="0" lvl="0" indent="0" algn="ctr">
              <a:lnSpc>
                <a:spcPts val="3600"/>
              </a:lnSpc>
              <a:spcBef>
                <a:spcPct val="0"/>
              </a:spcBef>
            </a:pPr>
            <a:r>
              <a:rPr lang="en-US" sz="3000" dirty="0">
                <a:solidFill>
                  <a:srgbClr val="423830"/>
                </a:solidFill>
                <a:latin typeface="TT Corals Semi-Bold"/>
              </a:rPr>
              <a:t>Bed </a:t>
            </a:r>
            <a:endParaRPr lang="en-US" sz="3000" u="none" strike="noStrike" dirty="0">
              <a:solidFill>
                <a:srgbClr val="423830"/>
              </a:solidFill>
              <a:latin typeface="TT Corals Semi-Bold"/>
            </a:endParaRP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sp>
        <p:nvSpPr>
          <p:cNvPr id="21" name="TextBox 21"/>
          <p:cNvSpPr txBox="1"/>
          <p:nvPr/>
        </p:nvSpPr>
        <p:spPr>
          <a:xfrm>
            <a:off x="9667477" y="8302393"/>
            <a:ext cx="3364925" cy="466725"/>
          </a:xfrm>
          <a:prstGeom prst="rect">
            <a:avLst/>
          </a:prstGeom>
        </p:spPr>
        <p:txBody>
          <a:bodyPr lIns="0" tIns="0" rIns="0" bIns="0" rtlCol="0" anchor="t">
            <a:spAutoFit/>
          </a:bodyPr>
          <a:lstStyle/>
          <a:p>
            <a:pPr marL="0" lvl="0" indent="0" algn="ctr">
              <a:lnSpc>
                <a:spcPts val="3600"/>
              </a:lnSpc>
              <a:spcBef>
                <a:spcPct val="0"/>
              </a:spcBef>
            </a:pPr>
            <a:r>
              <a:rPr lang="en-US" sz="3000">
                <a:solidFill>
                  <a:srgbClr val="423830"/>
                </a:solidFill>
                <a:latin typeface="TT Corals Semi-Bold"/>
              </a:rPr>
              <a:t>Chairs</a:t>
            </a:r>
            <a:endParaRPr lang="en-US" sz="3000" u="none" strike="noStrike" dirty="0">
              <a:solidFill>
                <a:srgbClr val="423830"/>
              </a:solidFill>
              <a:latin typeface="TT Corals Semi-Bold"/>
            </a:endParaRPr>
          </a:p>
        </p:txBody>
      </p:sp>
      <p:sp>
        <p:nvSpPr>
          <p:cNvPr id="23" name="TextBox 23"/>
          <p:cNvSpPr txBox="1"/>
          <p:nvPr/>
        </p:nvSpPr>
        <p:spPr>
          <a:xfrm>
            <a:off x="13646470" y="8302393"/>
            <a:ext cx="3364925" cy="466725"/>
          </a:xfrm>
          <a:prstGeom prst="rect">
            <a:avLst/>
          </a:prstGeom>
        </p:spPr>
        <p:txBody>
          <a:bodyPr lIns="0" tIns="0" rIns="0" bIns="0" rtlCol="0" anchor="t">
            <a:spAutoFit/>
          </a:bodyPr>
          <a:lstStyle/>
          <a:p>
            <a:pPr marL="0" lvl="0" indent="0" algn="ctr">
              <a:lnSpc>
                <a:spcPts val="3600"/>
              </a:lnSpc>
              <a:spcBef>
                <a:spcPct val="0"/>
              </a:spcBef>
            </a:pPr>
            <a:r>
              <a:rPr lang="en-US" sz="3000" dirty="0">
                <a:solidFill>
                  <a:srgbClr val="423830"/>
                </a:solidFill>
                <a:latin typeface="TT Corals Semi-Bold"/>
              </a:rPr>
              <a:t>Wardrobe</a:t>
            </a:r>
            <a:endParaRPr lang="en-US" sz="3000" u="none" strike="noStrike" dirty="0">
              <a:solidFill>
                <a:srgbClr val="423830"/>
              </a:solidFill>
              <a:latin typeface="TT Corals Semi-Bold"/>
            </a:endParaRPr>
          </a:p>
        </p:txBody>
      </p:sp>
      <p:pic>
        <p:nvPicPr>
          <p:cNvPr id="26" name="Picture 25"/>
          <p:cNvPicPr>
            <a:picLocks noChangeAspect="1"/>
          </p:cNvPicPr>
          <p:nvPr/>
        </p:nvPicPr>
        <p:blipFill>
          <a:blip r:embed="rId4" cstate="print"/>
          <a:stretch>
            <a:fillRect/>
          </a:stretch>
        </p:blipFill>
        <p:spPr>
          <a:xfrm>
            <a:off x="9159455" y="3892548"/>
            <a:ext cx="3981450" cy="3079751"/>
          </a:xfrm>
          <a:prstGeom prst="rect">
            <a:avLst/>
          </a:prstGeom>
        </p:spPr>
      </p:pic>
      <p:pic>
        <p:nvPicPr>
          <p:cNvPr id="27" name="Picture 26"/>
          <p:cNvPicPr>
            <a:picLocks noChangeAspect="1"/>
          </p:cNvPicPr>
          <p:nvPr/>
        </p:nvPicPr>
        <p:blipFill>
          <a:blip r:embed="rId5" cstate="print"/>
          <a:stretch>
            <a:fillRect/>
          </a:stretch>
        </p:blipFill>
        <p:spPr>
          <a:xfrm>
            <a:off x="442551" y="3821108"/>
            <a:ext cx="4186631" cy="3151192"/>
          </a:xfrm>
          <a:prstGeom prst="rect">
            <a:avLst/>
          </a:prstGeom>
        </p:spPr>
      </p:pic>
      <p:pic>
        <p:nvPicPr>
          <p:cNvPr id="1026" name="Picture 2" descr="C:\xampp1\htdocs\Furniture\admin\images\bed_a.jpg"/>
          <p:cNvPicPr>
            <a:picLocks noChangeAspect="1" noChangeArrowheads="1"/>
          </p:cNvPicPr>
          <p:nvPr/>
        </p:nvPicPr>
        <p:blipFill>
          <a:blip r:embed="rId6" cstate="print"/>
          <a:srcRect/>
          <a:stretch>
            <a:fillRect/>
          </a:stretch>
        </p:blipFill>
        <p:spPr bwMode="auto">
          <a:xfrm>
            <a:off x="4876800" y="3467100"/>
            <a:ext cx="4038600" cy="3886200"/>
          </a:xfrm>
          <a:prstGeom prst="rect">
            <a:avLst/>
          </a:prstGeom>
          <a:noFill/>
        </p:spPr>
      </p:pic>
      <p:pic>
        <p:nvPicPr>
          <p:cNvPr id="1029" name="Picture 5" descr="C:\xampp1\htdocs\Furniture\admin\images\wardrobe_b_1.jpg"/>
          <p:cNvPicPr>
            <a:picLocks noChangeAspect="1" noChangeArrowheads="1"/>
          </p:cNvPicPr>
          <p:nvPr/>
        </p:nvPicPr>
        <p:blipFill>
          <a:blip r:embed="rId7" cstate="print"/>
          <a:srcRect/>
          <a:stretch>
            <a:fillRect/>
          </a:stretch>
        </p:blipFill>
        <p:spPr bwMode="auto">
          <a:xfrm>
            <a:off x="13411200" y="3390900"/>
            <a:ext cx="4629150" cy="41148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1028700" y="990600"/>
            <a:ext cx="16230600" cy="1266244"/>
          </a:xfrm>
          <a:prstGeom prst="rect">
            <a:avLst/>
          </a:prstGeom>
        </p:spPr>
        <p:txBody>
          <a:bodyPr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FurniZone Overview</a:t>
            </a: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pic>
        <p:nvPicPr>
          <p:cNvPr id="15" name="Picture 14" descr="C:\Users\91931\AppData\Local\Packages\5319275A.WhatsAppDesktop_cv1g1gvanyjgm\TempState\72A8AB4748D4707FDA159DB0088D85DE\WhatsApp Image 2024-04-02 at 08.39.18_7572f553.jpg"/>
          <p:cNvPicPr/>
          <p:nvPr/>
        </p:nvPicPr>
        <p:blipFill rotWithShape="1">
          <a:blip r:embed="rId4" cstate="print">
            <a:extLst>
              <a:ext uri="{28A0092B-C50C-407E-A947-70E740481C1C}">
                <a14:useLocalDpi xmlns:a14="http://schemas.microsoft.com/office/drawing/2010/main" val="0"/>
              </a:ext>
            </a:extLst>
          </a:blip>
          <a:srcRect t="3492"/>
          <a:stretch/>
        </p:blipFill>
        <p:spPr bwMode="auto">
          <a:xfrm>
            <a:off x="457200" y="3848101"/>
            <a:ext cx="4343400" cy="6438899"/>
          </a:xfrm>
          <a:prstGeom prst="rect">
            <a:avLst/>
          </a:prstGeom>
          <a:noFill/>
          <a:ln>
            <a:noFill/>
          </a:ln>
          <a:extLst>
            <a:ext uri="{53640926-AAD7-44D8-BBD7-CCE9431645EC}">
              <a14:shadowObscured xmlns:a14="http://schemas.microsoft.com/office/drawing/2010/main"/>
            </a:ext>
          </a:extLst>
        </p:spPr>
      </p:pic>
      <p:pic>
        <p:nvPicPr>
          <p:cNvPr id="16" name="Picture 15" descr="C:\Users\91931\AppData\Local\Packages\5319275A.WhatsAppDesktop_cv1g1gvanyjgm\TempState\80A160FF31266BE2F93012A2A3ECA713\WhatsApp Image 2024-04-02 at 08.39.18_4c70caa3.jpg"/>
          <p:cNvPicPr/>
          <p:nvPr/>
        </p:nvPicPr>
        <p:blipFill rotWithShape="1">
          <a:blip r:embed="rId5" cstate="print">
            <a:extLst>
              <a:ext uri="{28A0092B-C50C-407E-A947-70E740481C1C}">
                <a14:useLocalDpi xmlns:a14="http://schemas.microsoft.com/office/drawing/2010/main" val="0"/>
              </a:ext>
            </a:extLst>
          </a:blip>
          <a:srcRect t="3576"/>
          <a:stretch/>
        </p:blipFill>
        <p:spPr bwMode="auto">
          <a:xfrm>
            <a:off x="6629400" y="3848101"/>
            <a:ext cx="4572000" cy="6438899"/>
          </a:xfrm>
          <a:prstGeom prst="rect">
            <a:avLst/>
          </a:prstGeom>
          <a:noFill/>
          <a:ln>
            <a:noFill/>
          </a:ln>
          <a:extLst>
            <a:ext uri="{53640926-AAD7-44D8-BBD7-CCE9431645EC}">
              <a14:shadowObscured xmlns:a14="http://schemas.microsoft.com/office/drawing/2010/main"/>
            </a:ext>
          </a:extLst>
        </p:spPr>
      </p:pic>
      <p:pic>
        <p:nvPicPr>
          <p:cNvPr id="18" name="Picture 17" descr="C:\Users\91931\AppData\Local\Packages\5319275A.WhatsAppDesktop_cv1g1gvanyjgm\TempState\9ED017D7372360C256ADD7A8FE35A0A6\WhatsApp Image 2024-04-02 at 08.39.17_30c22e87.jpg"/>
          <p:cNvPicPr/>
          <p:nvPr/>
        </p:nvPicPr>
        <p:blipFill rotWithShape="1">
          <a:blip r:embed="rId6" cstate="print">
            <a:extLst>
              <a:ext uri="{28A0092B-C50C-407E-A947-70E740481C1C}">
                <a14:useLocalDpi xmlns:a14="http://schemas.microsoft.com/office/drawing/2010/main" val="0"/>
              </a:ext>
            </a:extLst>
          </a:blip>
          <a:srcRect t="3586"/>
          <a:stretch/>
        </p:blipFill>
        <p:spPr bwMode="auto">
          <a:xfrm>
            <a:off x="13182601" y="3848100"/>
            <a:ext cx="4076700" cy="6438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31958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1028700" y="990600"/>
            <a:ext cx="16230600" cy="1266244"/>
          </a:xfrm>
          <a:prstGeom prst="rect">
            <a:avLst/>
          </a:prstGeom>
        </p:spPr>
        <p:txBody>
          <a:bodyPr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Home Slide</a:t>
            </a: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pic>
        <p:nvPicPr>
          <p:cNvPr id="8" name="Picture 7" descr="C:\Users\91931\AppData\Local\Packages\5319275A.WhatsAppDesktop_cv1g1gvanyjgm\TempState\FA47A8AFC054461B702DACBBCD204818\WhatsApp Image 2024-04-02 at 08.39.18_68c1684f.jpg"/>
          <p:cNvPicPr/>
          <p:nvPr/>
        </p:nvPicPr>
        <p:blipFill rotWithShape="1">
          <a:blip r:embed="rId4" cstate="print">
            <a:extLst>
              <a:ext uri="{28A0092B-C50C-407E-A947-70E740481C1C}">
                <a14:useLocalDpi xmlns:a14="http://schemas.microsoft.com/office/drawing/2010/main" val="0"/>
              </a:ext>
            </a:extLst>
          </a:blip>
          <a:srcRect t="3492"/>
          <a:stretch/>
        </p:blipFill>
        <p:spPr bwMode="auto">
          <a:xfrm>
            <a:off x="2895600" y="3850820"/>
            <a:ext cx="4648199" cy="6438899"/>
          </a:xfrm>
          <a:prstGeom prst="rect">
            <a:avLst/>
          </a:prstGeom>
          <a:noFill/>
          <a:ln>
            <a:noFill/>
          </a:ln>
          <a:extLst>
            <a:ext uri="{53640926-AAD7-44D8-BBD7-CCE9431645EC}">
              <a14:shadowObscured xmlns:a14="http://schemas.microsoft.com/office/drawing/2010/main"/>
            </a:ext>
          </a:extLst>
        </p:spPr>
      </p:pic>
      <p:pic>
        <p:nvPicPr>
          <p:cNvPr id="9" name="Picture 8" descr="C:\Users\91931\AppData\Local\Packages\5319275A.WhatsAppDesktop_cv1g1gvanyjgm\TempState\574CDBBBE4C0155FB026C1B2CB5AAFA6\WhatsApp Image 2024-04-02 at 08.39.17_c61d4cff.jpg"/>
          <p:cNvPicPr/>
          <p:nvPr/>
        </p:nvPicPr>
        <p:blipFill rotWithShape="1">
          <a:blip r:embed="rId5" cstate="print">
            <a:extLst>
              <a:ext uri="{28A0092B-C50C-407E-A947-70E740481C1C}">
                <a14:useLocalDpi xmlns:a14="http://schemas.microsoft.com/office/drawing/2010/main" val="0"/>
              </a:ext>
            </a:extLst>
          </a:blip>
          <a:srcRect t="3576"/>
          <a:stretch/>
        </p:blipFill>
        <p:spPr bwMode="auto">
          <a:xfrm>
            <a:off x="12039600" y="3848101"/>
            <a:ext cx="4343400" cy="643345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78703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1028700" y="990600"/>
            <a:ext cx="16230600" cy="1266244"/>
          </a:xfrm>
          <a:prstGeom prst="rect">
            <a:avLst/>
          </a:prstGeom>
        </p:spPr>
        <p:txBody>
          <a:bodyPr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Category , Product and Offer slide</a:t>
            </a: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pic>
        <p:nvPicPr>
          <p:cNvPr id="7" name="Picture 6" descr="C:\Users\91931\AppData\Local\Packages\5319275A.WhatsAppDesktop_cv1g1gvanyjgm\TempState\AC5C482277858D6FE45065D0A3F92B0C\WhatsApp Image 2024-04-02 at 08.39.17_b90c335f.jpg"/>
          <p:cNvPicPr/>
          <p:nvPr/>
        </p:nvPicPr>
        <p:blipFill rotWithShape="1">
          <a:blip r:embed="rId4" cstate="print">
            <a:extLst>
              <a:ext uri="{28A0092B-C50C-407E-A947-70E740481C1C}">
                <a14:useLocalDpi xmlns:a14="http://schemas.microsoft.com/office/drawing/2010/main" val="0"/>
              </a:ext>
            </a:extLst>
          </a:blip>
          <a:srcRect t="3747"/>
          <a:stretch/>
        </p:blipFill>
        <p:spPr bwMode="auto">
          <a:xfrm>
            <a:off x="0" y="3848102"/>
            <a:ext cx="4343400" cy="6438898"/>
          </a:xfrm>
          <a:prstGeom prst="rect">
            <a:avLst/>
          </a:prstGeom>
          <a:noFill/>
          <a:ln>
            <a:noFill/>
          </a:ln>
          <a:extLst>
            <a:ext uri="{53640926-AAD7-44D8-BBD7-CCE9431645EC}">
              <a14:shadowObscured xmlns:a14="http://schemas.microsoft.com/office/drawing/2010/main"/>
            </a:ext>
          </a:extLst>
        </p:spPr>
      </p:pic>
      <p:pic>
        <p:nvPicPr>
          <p:cNvPr id="10" name="Picture 9" descr="C:\Users\91931\AppData\Local\Packages\5319275A.WhatsAppDesktop_cv1g1gvanyjgm\TempState\0DFD8A39E2A5DD536C185E19A804A73B\WhatsApp Image 2024-04-02 at 08.39.16_a5aa9b86.jpg"/>
          <p:cNvPicPr/>
          <p:nvPr/>
        </p:nvPicPr>
        <p:blipFill rotWithShape="1">
          <a:blip r:embed="rId5" cstate="print">
            <a:extLst>
              <a:ext uri="{28A0092B-C50C-407E-A947-70E740481C1C}">
                <a14:useLocalDpi xmlns:a14="http://schemas.microsoft.com/office/drawing/2010/main" val="0"/>
              </a:ext>
            </a:extLst>
          </a:blip>
          <a:srcRect t="3831"/>
          <a:stretch/>
        </p:blipFill>
        <p:spPr bwMode="auto">
          <a:xfrm>
            <a:off x="6172200" y="3848100"/>
            <a:ext cx="4648200" cy="6438899"/>
          </a:xfrm>
          <a:prstGeom prst="rect">
            <a:avLst/>
          </a:prstGeom>
          <a:noFill/>
          <a:ln>
            <a:noFill/>
          </a:ln>
          <a:extLst>
            <a:ext uri="{53640926-AAD7-44D8-BBD7-CCE9431645EC}">
              <a14:shadowObscured xmlns:a14="http://schemas.microsoft.com/office/drawing/2010/main"/>
            </a:ext>
          </a:extLst>
        </p:spPr>
      </p:pic>
      <p:pic>
        <p:nvPicPr>
          <p:cNvPr id="13" name="Picture 12" descr="C:\Users\91931\AppData\Local\Packages\5319275A.WhatsAppDesktop_cv1g1gvanyjgm\TempState\604616E4D592B744E14EC3FF33204DEC\WhatsApp Image 2024-04-02 at 08.39.14_8d57d859.jpg"/>
          <p:cNvPicPr/>
          <p:nvPr/>
        </p:nvPicPr>
        <p:blipFill rotWithShape="1">
          <a:blip r:embed="rId6" cstate="print">
            <a:extLst>
              <a:ext uri="{28A0092B-C50C-407E-A947-70E740481C1C}">
                <a14:useLocalDpi xmlns:a14="http://schemas.microsoft.com/office/drawing/2010/main" val="0"/>
              </a:ext>
            </a:extLst>
          </a:blip>
          <a:srcRect t="3661"/>
          <a:stretch/>
        </p:blipFill>
        <p:spPr bwMode="auto">
          <a:xfrm>
            <a:off x="13335000" y="3848100"/>
            <a:ext cx="4953000" cy="64389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63119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384995"/>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Cart , Payment method and Profile slide</a:t>
            </a: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pic>
        <p:nvPicPr>
          <p:cNvPr id="8" name="Picture 7" descr="C:\Users\91931\AppData\Local\Packages\5319275A.WhatsAppDesktop_cv1g1gvanyjgm\TempState\021E1EA77BD91AAA0FC4D01A943A654E\WhatsApp Image 2024-04-02 at 08.39.14_4e1469b0.jpg"/>
          <p:cNvPicPr/>
          <p:nvPr/>
        </p:nvPicPr>
        <p:blipFill rotWithShape="1">
          <a:blip r:embed="rId4" cstate="print">
            <a:extLst>
              <a:ext uri="{28A0092B-C50C-407E-A947-70E740481C1C}">
                <a14:useLocalDpi xmlns:a14="http://schemas.microsoft.com/office/drawing/2010/main" val="0"/>
              </a:ext>
            </a:extLst>
          </a:blip>
          <a:srcRect t="3576" b="16563"/>
          <a:stretch/>
        </p:blipFill>
        <p:spPr bwMode="auto">
          <a:xfrm>
            <a:off x="601757" y="3397206"/>
            <a:ext cx="4191000" cy="6438900"/>
          </a:xfrm>
          <a:prstGeom prst="rect">
            <a:avLst/>
          </a:prstGeom>
          <a:noFill/>
          <a:ln>
            <a:noFill/>
          </a:ln>
          <a:extLst>
            <a:ext uri="{53640926-AAD7-44D8-BBD7-CCE9431645EC}">
              <a14:shadowObscured xmlns:a14="http://schemas.microsoft.com/office/drawing/2010/main"/>
            </a:ext>
          </a:extLst>
        </p:spPr>
      </p:pic>
      <p:pic>
        <p:nvPicPr>
          <p:cNvPr id="9" name="Picture 8" descr="C:\Users\91931\AppData\Local\Packages\5319275A.WhatsAppDesktop_cv1g1gvanyjgm\TempState\D79C8788088C2193F0244D8F1F36D2DB\WhatsApp Image 2024-04-02 at 08.39.12_2df6e8d7.jpg"/>
          <p:cNvPicPr/>
          <p:nvPr/>
        </p:nvPicPr>
        <p:blipFill rotWithShape="1">
          <a:blip r:embed="rId5" cstate="print">
            <a:extLst>
              <a:ext uri="{28A0092B-C50C-407E-A947-70E740481C1C}">
                <a14:useLocalDpi xmlns:a14="http://schemas.microsoft.com/office/drawing/2010/main" val="0"/>
              </a:ext>
            </a:extLst>
          </a:blip>
          <a:srcRect t="71362" b="1"/>
          <a:stretch/>
        </p:blipFill>
        <p:spPr bwMode="auto">
          <a:xfrm>
            <a:off x="6344805" y="5363483"/>
            <a:ext cx="3411220" cy="2506345"/>
          </a:xfrm>
          <a:prstGeom prst="rect">
            <a:avLst/>
          </a:prstGeom>
          <a:noFill/>
          <a:ln>
            <a:noFill/>
          </a:ln>
          <a:extLst>
            <a:ext uri="{53640926-AAD7-44D8-BBD7-CCE9431645EC}">
              <a14:shadowObscured xmlns:a14="http://schemas.microsoft.com/office/drawing/2010/main"/>
            </a:ext>
          </a:extLst>
        </p:spPr>
      </p:pic>
      <p:pic>
        <p:nvPicPr>
          <p:cNvPr id="14" name="Picture 13" descr="C:\Users\91931\AppData\Local\Packages\5319275A.WhatsAppDesktop_cv1g1gvanyjgm\TempState\23529B09A37F0A0C1E11E01D8619B93A\WhatsApp Image 2024-04-02 at 08.39.12_560cb570.jpg"/>
          <p:cNvPicPr/>
          <p:nvPr/>
        </p:nvPicPr>
        <p:blipFill rotWithShape="1">
          <a:blip r:embed="rId6" cstate="print">
            <a:extLst>
              <a:ext uri="{28A0092B-C50C-407E-A947-70E740481C1C}">
                <a14:useLocalDpi xmlns:a14="http://schemas.microsoft.com/office/drawing/2010/main" val="0"/>
              </a:ext>
            </a:extLst>
          </a:blip>
          <a:srcRect t="3661"/>
          <a:stretch/>
        </p:blipFill>
        <p:spPr bwMode="auto">
          <a:xfrm>
            <a:off x="11308073" y="4533900"/>
            <a:ext cx="3877498" cy="54864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49472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266244"/>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Admin and Dashboard</a:t>
            </a: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pic>
        <p:nvPicPr>
          <p:cNvPr id="7" name="Picture 6">
            <a:extLst>
              <a:ext uri="{FF2B5EF4-FFF2-40B4-BE49-F238E27FC236}">
                <a16:creationId xmlns:a16="http://schemas.microsoft.com/office/drawing/2014/main" id="{A558C10E-A3A3-D179-6C8E-2282B51EC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191000"/>
            <a:ext cx="9813413" cy="6134099"/>
          </a:xfrm>
          <a:prstGeom prst="rect">
            <a:avLst/>
          </a:prstGeom>
        </p:spPr>
      </p:pic>
      <p:pic>
        <p:nvPicPr>
          <p:cNvPr id="6" name="Picture 5">
            <a:extLst>
              <a:ext uri="{FF2B5EF4-FFF2-40B4-BE49-F238E27FC236}">
                <a16:creationId xmlns:a16="http://schemas.microsoft.com/office/drawing/2014/main" id="{B468E1CD-DE8A-CCAC-2ABA-BC7BA232E6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95543" y="4191000"/>
            <a:ext cx="8610600" cy="6134099"/>
          </a:xfrm>
          <a:prstGeom prst="rect">
            <a:avLst/>
          </a:prstGeom>
        </p:spPr>
      </p:pic>
    </p:spTree>
    <p:extLst>
      <p:ext uri="{BB962C8B-B14F-4D97-AF65-F5344CB8AC3E}">
        <p14:creationId xmlns:p14="http://schemas.microsoft.com/office/powerpoint/2010/main" val="496500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266244"/>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Category</a:t>
            </a:r>
          </a:p>
        </p:txBody>
      </p:sp>
      <p:sp>
        <p:nvSpPr>
          <p:cNvPr id="20" name="TextBox 20"/>
          <p:cNvSpPr txBox="1"/>
          <p:nvPr/>
        </p:nvSpPr>
        <p:spPr>
          <a:xfrm>
            <a:off x="5900556" y="8095515"/>
            <a:ext cx="2149859" cy="371897"/>
          </a:xfrm>
          <a:prstGeom prst="rect">
            <a:avLst/>
          </a:prstGeom>
        </p:spPr>
        <p:txBody>
          <a:bodyPr lIns="0" tIns="0" rIns="0" bIns="0" rtlCol="0" anchor="t">
            <a:spAutoFit/>
          </a:bodyPr>
          <a:lstStyle/>
          <a:p>
            <a:pPr marL="0" lvl="0" indent="0" algn="ctr">
              <a:lnSpc>
                <a:spcPts val="2940"/>
              </a:lnSpc>
              <a:spcBef>
                <a:spcPct val="0"/>
              </a:spcBef>
            </a:pPr>
            <a:r>
              <a:rPr lang="en-US" sz="2100" u="none" strike="noStrike" dirty="0">
                <a:solidFill>
                  <a:srgbClr val="423830"/>
                </a:solidFill>
                <a:latin typeface="TT Corals"/>
              </a:rPr>
              <a:t>.</a:t>
            </a:r>
          </a:p>
        </p:txBody>
      </p:sp>
      <p:sp>
        <p:nvSpPr>
          <p:cNvPr id="2" name="TextBox 1"/>
          <p:cNvSpPr txBox="1"/>
          <p:nvPr/>
        </p:nvSpPr>
        <p:spPr>
          <a:xfrm>
            <a:off x="13030200" y="5600700"/>
            <a:ext cx="3581400" cy="461665"/>
          </a:xfrm>
          <a:prstGeom prst="rect">
            <a:avLst/>
          </a:prstGeom>
          <a:noFill/>
        </p:spPr>
        <p:txBody>
          <a:bodyPr wrap="square" rtlCol="0">
            <a:spAutoFit/>
          </a:bodyPr>
          <a:lstStyle/>
          <a:p>
            <a:pPr algn="ctr"/>
            <a:r>
              <a:rPr lang="en-IN" sz="2400" dirty="0"/>
              <a:t>Add Category</a:t>
            </a:r>
          </a:p>
        </p:txBody>
      </p:sp>
      <p:sp>
        <p:nvSpPr>
          <p:cNvPr id="15" name="TextBox 14"/>
          <p:cNvSpPr txBox="1"/>
          <p:nvPr/>
        </p:nvSpPr>
        <p:spPr>
          <a:xfrm>
            <a:off x="6896100" y="9651511"/>
            <a:ext cx="3581400" cy="461665"/>
          </a:xfrm>
          <a:prstGeom prst="rect">
            <a:avLst/>
          </a:prstGeom>
          <a:noFill/>
        </p:spPr>
        <p:txBody>
          <a:bodyPr wrap="square" rtlCol="0">
            <a:spAutoFit/>
          </a:bodyPr>
          <a:lstStyle/>
          <a:p>
            <a:pPr algn="ctr"/>
            <a:r>
              <a:rPr lang="en-IN" sz="2400" dirty="0"/>
              <a:t>Update Category</a:t>
            </a:r>
          </a:p>
        </p:txBody>
      </p:sp>
      <p:pic>
        <p:nvPicPr>
          <p:cNvPr id="10" name="Picture 9">
            <a:extLst>
              <a:ext uri="{FF2B5EF4-FFF2-40B4-BE49-F238E27FC236}">
                <a16:creationId xmlns:a16="http://schemas.microsoft.com/office/drawing/2014/main" id="{91EF92AF-4AA2-ADB8-CEEE-AA26E529D6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00" y="5871865"/>
            <a:ext cx="7167355" cy="3424535"/>
          </a:xfrm>
          <a:prstGeom prst="rect">
            <a:avLst/>
          </a:prstGeom>
        </p:spPr>
      </p:pic>
      <p:pic>
        <p:nvPicPr>
          <p:cNvPr id="7" name="Picture 6">
            <a:extLst>
              <a:ext uri="{FF2B5EF4-FFF2-40B4-BE49-F238E27FC236}">
                <a16:creationId xmlns:a16="http://schemas.microsoft.com/office/drawing/2014/main" id="{BD282184-B226-BFD3-2431-74E74D15E39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3114" y="2182333"/>
            <a:ext cx="6896100" cy="3418367"/>
          </a:xfrm>
          <a:prstGeom prst="rect">
            <a:avLst/>
          </a:prstGeom>
        </p:spPr>
      </p:pic>
      <p:pic>
        <p:nvPicPr>
          <p:cNvPr id="9" name="Picture 8">
            <a:extLst>
              <a:ext uri="{FF2B5EF4-FFF2-40B4-BE49-F238E27FC236}">
                <a16:creationId xmlns:a16="http://schemas.microsoft.com/office/drawing/2014/main" id="{A53C131E-2013-E0A7-8D60-A756998F553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72800" y="2245205"/>
            <a:ext cx="6702738" cy="3292621"/>
          </a:xfrm>
          <a:prstGeom prst="rect">
            <a:avLst/>
          </a:prstGeom>
        </p:spPr>
      </p:pic>
    </p:spTree>
    <p:extLst>
      <p:ext uri="{BB962C8B-B14F-4D97-AF65-F5344CB8AC3E}">
        <p14:creationId xmlns:p14="http://schemas.microsoft.com/office/powerpoint/2010/main" val="1712929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266244"/>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Product</a:t>
            </a:r>
          </a:p>
        </p:txBody>
      </p:sp>
      <p:sp>
        <p:nvSpPr>
          <p:cNvPr id="18" name="TextBox 17"/>
          <p:cNvSpPr txBox="1"/>
          <p:nvPr/>
        </p:nvSpPr>
        <p:spPr>
          <a:xfrm>
            <a:off x="12698185" y="3047622"/>
            <a:ext cx="3581400" cy="461665"/>
          </a:xfrm>
          <a:prstGeom prst="rect">
            <a:avLst/>
          </a:prstGeom>
          <a:noFill/>
        </p:spPr>
        <p:txBody>
          <a:bodyPr wrap="square" rtlCol="0">
            <a:spAutoFit/>
          </a:bodyPr>
          <a:lstStyle/>
          <a:p>
            <a:pPr algn="ctr"/>
            <a:r>
              <a:rPr lang="en-IN" sz="2400" dirty="0"/>
              <a:t>Add Furniture</a:t>
            </a:r>
          </a:p>
        </p:txBody>
      </p:sp>
      <p:pic>
        <p:nvPicPr>
          <p:cNvPr id="6" name="Picture 5">
            <a:extLst>
              <a:ext uri="{FF2B5EF4-FFF2-40B4-BE49-F238E27FC236}">
                <a16:creationId xmlns:a16="http://schemas.microsoft.com/office/drawing/2014/main" id="{72B575A7-D3F8-1108-9E59-75A4033819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727134"/>
            <a:ext cx="9927491" cy="6576195"/>
          </a:xfrm>
          <a:prstGeom prst="rect">
            <a:avLst/>
          </a:prstGeom>
        </p:spPr>
      </p:pic>
      <p:pic>
        <p:nvPicPr>
          <p:cNvPr id="8" name="Picture 7">
            <a:extLst>
              <a:ext uri="{FF2B5EF4-FFF2-40B4-BE49-F238E27FC236}">
                <a16:creationId xmlns:a16="http://schemas.microsoft.com/office/drawing/2014/main" id="{37D77C9B-7A85-4306-9329-76B2DA0FD0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9800" y="3727134"/>
            <a:ext cx="8458200" cy="6576195"/>
          </a:xfrm>
          <a:prstGeom prst="rect">
            <a:avLst/>
          </a:prstGeom>
        </p:spPr>
      </p:pic>
    </p:spTree>
    <p:extLst>
      <p:ext uri="{BB962C8B-B14F-4D97-AF65-F5344CB8AC3E}">
        <p14:creationId xmlns:p14="http://schemas.microsoft.com/office/powerpoint/2010/main" val="420746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266244"/>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Update Product</a:t>
            </a:r>
          </a:p>
        </p:txBody>
      </p:sp>
      <p:pic>
        <p:nvPicPr>
          <p:cNvPr id="9" name="Picture 8" descr="C:\Users\91931\OneDrive\Desktop\admin panel\Screenshot (152).png"/>
          <p:cNvPicPr/>
          <p:nvPr/>
        </p:nvPicPr>
        <p:blipFill>
          <a:blip r:embed="rId4" cstate="print"/>
          <a:stretch>
            <a:fillRect/>
          </a:stretch>
        </p:blipFill>
        <p:spPr bwMode="auto">
          <a:xfrm>
            <a:off x="9525000" y="3619500"/>
            <a:ext cx="8763000" cy="5029200"/>
          </a:xfrm>
          <a:prstGeom prst="rect">
            <a:avLst/>
          </a:prstGeom>
          <a:noFill/>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0F5E59A4-5273-39D9-BF8B-76C7A159A6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305029"/>
            <a:ext cx="9263743" cy="5658141"/>
          </a:xfrm>
          <a:prstGeom prst="rect">
            <a:avLst/>
          </a:prstGeom>
        </p:spPr>
      </p:pic>
    </p:spTree>
    <p:extLst>
      <p:ext uri="{BB962C8B-B14F-4D97-AF65-F5344CB8AC3E}">
        <p14:creationId xmlns:p14="http://schemas.microsoft.com/office/powerpoint/2010/main" val="76747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266244"/>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Banner</a:t>
            </a:r>
          </a:p>
        </p:txBody>
      </p:sp>
      <p:sp>
        <p:nvSpPr>
          <p:cNvPr id="13" name="TextBox 12"/>
          <p:cNvSpPr txBox="1"/>
          <p:nvPr/>
        </p:nvSpPr>
        <p:spPr>
          <a:xfrm>
            <a:off x="12763500" y="6614531"/>
            <a:ext cx="3581400" cy="461665"/>
          </a:xfrm>
          <a:prstGeom prst="rect">
            <a:avLst/>
          </a:prstGeom>
          <a:noFill/>
        </p:spPr>
        <p:txBody>
          <a:bodyPr wrap="square" rtlCol="0">
            <a:spAutoFit/>
          </a:bodyPr>
          <a:lstStyle/>
          <a:p>
            <a:pPr algn="ctr"/>
            <a:r>
              <a:rPr lang="en-IN" sz="2400" dirty="0"/>
              <a:t>Add Banner</a:t>
            </a:r>
          </a:p>
        </p:txBody>
      </p:sp>
      <p:sp>
        <p:nvSpPr>
          <p:cNvPr id="14" name="TextBox 13"/>
          <p:cNvSpPr txBox="1"/>
          <p:nvPr/>
        </p:nvSpPr>
        <p:spPr>
          <a:xfrm>
            <a:off x="6858000" y="6731752"/>
            <a:ext cx="3581400" cy="461665"/>
          </a:xfrm>
          <a:prstGeom prst="rect">
            <a:avLst/>
          </a:prstGeom>
          <a:noFill/>
        </p:spPr>
        <p:txBody>
          <a:bodyPr wrap="square" rtlCol="0">
            <a:spAutoFit/>
          </a:bodyPr>
          <a:lstStyle/>
          <a:p>
            <a:pPr algn="ctr"/>
            <a:r>
              <a:rPr lang="en-IN" sz="2400" dirty="0"/>
              <a:t>Update Banner</a:t>
            </a:r>
          </a:p>
        </p:txBody>
      </p:sp>
      <p:pic>
        <p:nvPicPr>
          <p:cNvPr id="5" name="Picture 4">
            <a:extLst>
              <a:ext uri="{FF2B5EF4-FFF2-40B4-BE49-F238E27FC236}">
                <a16:creationId xmlns:a16="http://schemas.microsoft.com/office/drawing/2014/main" id="{7CA21CFA-300C-AF0E-2928-CB9F0E9552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2855639"/>
            <a:ext cx="7912413" cy="3749821"/>
          </a:xfrm>
          <a:prstGeom prst="rect">
            <a:avLst/>
          </a:prstGeom>
        </p:spPr>
      </p:pic>
      <p:pic>
        <p:nvPicPr>
          <p:cNvPr id="7" name="Picture 6">
            <a:extLst>
              <a:ext uri="{FF2B5EF4-FFF2-40B4-BE49-F238E27FC236}">
                <a16:creationId xmlns:a16="http://schemas.microsoft.com/office/drawing/2014/main" id="{54B55F1F-F944-C085-3440-63007D0D54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982200" y="2758333"/>
            <a:ext cx="6931338" cy="3527571"/>
          </a:xfrm>
          <a:prstGeom prst="rect">
            <a:avLst/>
          </a:prstGeom>
        </p:spPr>
      </p:pic>
      <p:pic>
        <p:nvPicPr>
          <p:cNvPr id="9" name="Picture 8">
            <a:extLst>
              <a:ext uri="{FF2B5EF4-FFF2-40B4-BE49-F238E27FC236}">
                <a16:creationId xmlns:a16="http://schemas.microsoft.com/office/drawing/2014/main" id="{2CD6C1FB-1447-C729-FE76-B05F6169FD4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24459" y="7319709"/>
            <a:ext cx="5648481" cy="2726690"/>
          </a:xfrm>
          <a:prstGeom prst="rect">
            <a:avLst/>
          </a:prstGeom>
        </p:spPr>
      </p:pic>
    </p:spTree>
    <p:extLst>
      <p:ext uri="{BB962C8B-B14F-4D97-AF65-F5344CB8AC3E}">
        <p14:creationId xmlns:p14="http://schemas.microsoft.com/office/powerpoint/2010/main" val="88414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266244"/>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Coupon</a:t>
            </a:r>
          </a:p>
        </p:txBody>
      </p:sp>
      <p:sp>
        <p:nvSpPr>
          <p:cNvPr id="13" name="TextBox 12"/>
          <p:cNvSpPr txBox="1"/>
          <p:nvPr/>
        </p:nvSpPr>
        <p:spPr>
          <a:xfrm>
            <a:off x="12763500" y="6614531"/>
            <a:ext cx="3581400" cy="461665"/>
          </a:xfrm>
          <a:prstGeom prst="rect">
            <a:avLst/>
          </a:prstGeom>
          <a:noFill/>
        </p:spPr>
        <p:txBody>
          <a:bodyPr wrap="square" rtlCol="0">
            <a:spAutoFit/>
          </a:bodyPr>
          <a:lstStyle/>
          <a:p>
            <a:pPr algn="ctr"/>
            <a:r>
              <a:rPr lang="en-IN" sz="2400" dirty="0"/>
              <a:t>Add Coupon</a:t>
            </a:r>
          </a:p>
        </p:txBody>
      </p:sp>
      <p:sp>
        <p:nvSpPr>
          <p:cNvPr id="14" name="TextBox 13"/>
          <p:cNvSpPr txBox="1"/>
          <p:nvPr/>
        </p:nvSpPr>
        <p:spPr>
          <a:xfrm>
            <a:off x="6858000" y="6731752"/>
            <a:ext cx="3581400" cy="461665"/>
          </a:xfrm>
          <a:prstGeom prst="rect">
            <a:avLst/>
          </a:prstGeom>
          <a:noFill/>
        </p:spPr>
        <p:txBody>
          <a:bodyPr wrap="square" rtlCol="0">
            <a:spAutoFit/>
          </a:bodyPr>
          <a:lstStyle/>
          <a:p>
            <a:pPr algn="ctr"/>
            <a:r>
              <a:rPr lang="en-IN" sz="2400" dirty="0"/>
              <a:t>Update Coupon</a:t>
            </a:r>
          </a:p>
        </p:txBody>
      </p:sp>
      <p:pic>
        <p:nvPicPr>
          <p:cNvPr id="3" name="Picture 2">
            <a:extLst>
              <a:ext uri="{FF2B5EF4-FFF2-40B4-BE49-F238E27FC236}">
                <a16:creationId xmlns:a16="http://schemas.microsoft.com/office/drawing/2014/main" id="{1D2C6855-439C-3CE6-C20E-B868C229CE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3400" y="2786939"/>
            <a:ext cx="6093138" cy="3613458"/>
          </a:xfrm>
          <a:prstGeom prst="rect">
            <a:avLst/>
          </a:prstGeom>
        </p:spPr>
      </p:pic>
      <p:pic>
        <p:nvPicPr>
          <p:cNvPr id="5" name="Picture 4">
            <a:extLst>
              <a:ext uri="{FF2B5EF4-FFF2-40B4-BE49-F238E27FC236}">
                <a16:creationId xmlns:a16="http://schemas.microsoft.com/office/drawing/2014/main" id="{78A990DA-1DDD-B610-87D1-604D13AF7D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82200" y="2638135"/>
            <a:ext cx="7537763" cy="3879112"/>
          </a:xfrm>
          <a:prstGeom prst="rect">
            <a:avLst/>
          </a:prstGeom>
        </p:spPr>
      </p:pic>
      <p:pic>
        <p:nvPicPr>
          <p:cNvPr id="7" name="Picture 6">
            <a:extLst>
              <a:ext uri="{FF2B5EF4-FFF2-40B4-BE49-F238E27FC236}">
                <a16:creationId xmlns:a16="http://schemas.microsoft.com/office/drawing/2014/main" id="{0DF30405-2DE5-75BC-4429-7A02D9600E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15000" y="7395222"/>
            <a:ext cx="5394514" cy="2632602"/>
          </a:xfrm>
          <a:prstGeom prst="rect">
            <a:avLst/>
          </a:prstGeom>
        </p:spPr>
      </p:pic>
    </p:spTree>
    <p:extLst>
      <p:ext uri="{BB962C8B-B14F-4D97-AF65-F5344CB8AC3E}">
        <p14:creationId xmlns:p14="http://schemas.microsoft.com/office/powerpoint/2010/main" val="354722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11" name="Freeform 11"/>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sp>
        <p:nvSpPr>
          <p:cNvPr id="12" name="TextBox 12"/>
          <p:cNvSpPr txBox="1"/>
          <p:nvPr/>
        </p:nvSpPr>
        <p:spPr>
          <a:xfrm>
            <a:off x="228600" y="990600"/>
            <a:ext cx="18059400" cy="1384995"/>
          </a:xfrm>
          <a:prstGeom prst="rect">
            <a:avLst/>
          </a:prstGeom>
        </p:spPr>
        <p:txBody>
          <a:bodyPr wrap="square" lIns="0" tIns="0" rIns="0" bIns="0" rtlCol="0" anchor="t">
            <a:spAutoFit/>
          </a:bodyPr>
          <a:lstStyle/>
          <a:p>
            <a:pPr algn="ctr">
              <a:lnSpc>
                <a:spcPts val="10800"/>
              </a:lnSpc>
              <a:spcBef>
                <a:spcPct val="0"/>
              </a:spcBef>
            </a:pPr>
            <a:r>
              <a:rPr lang="en-US" sz="7200" dirty="0">
                <a:solidFill>
                  <a:srgbClr val="423830"/>
                </a:solidFill>
                <a:latin typeface="Bookman Old Style" pitchFamily="18" charset="0"/>
              </a:rPr>
              <a:t>Total order and Total user</a:t>
            </a:r>
          </a:p>
        </p:txBody>
      </p:sp>
      <p:sp>
        <p:nvSpPr>
          <p:cNvPr id="13" name="TextBox 12"/>
          <p:cNvSpPr txBox="1"/>
          <p:nvPr/>
        </p:nvSpPr>
        <p:spPr>
          <a:xfrm>
            <a:off x="12801600" y="8343900"/>
            <a:ext cx="3581400" cy="461665"/>
          </a:xfrm>
          <a:prstGeom prst="rect">
            <a:avLst/>
          </a:prstGeom>
          <a:noFill/>
        </p:spPr>
        <p:txBody>
          <a:bodyPr wrap="square" rtlCol="0">
            <a:spAutoFit/>
          </a:bodyPr>
          <a:lstStyle/>
          <a:p>
            <a:pPr algn="ctr"/>
            <a:r>
              <a:rPr lang="en-IN" sz="2400" dirty="0"/>
              <a:t>Total User</a:t>
            </a:r>
          </a:p>
        </p:txBody>
      </p:sp>
      <p:sp>
        <p:nvSpPr>
          <p:cNvPr id="17" name="TextBox 16"/>
          <p:cNvSpPr txBox="1"/>
          <p:nvPr/>
        </p:nvSpPr>
        <p:spPr>
          <a:xfrm>
            <a:off x="2743200" y="8343900"/>
            <a:ext cx="3581400" cy="461665"/>
          </a:xfrm>
          <a:prstGeom prst="rect">
            <a:avLst/>
          </a:prstGeom>
          <a:noFill/>
        </p:spPr>
        <p:txBody>
          <a:bodyPr wrap="square" rtlCol="0">
            <a:spAutoFit/>
          </a:bodyPr>
          <a:lstStyle/>
          <a:p>
            <a:pPr algn="ctr"/>
            <a:r>
              <a:rPr lang="en-IN" sz="2400" dirty="0"/>
              <a:t>Total Order</a:t>
            </a:r>
          </a:p>
        </p:txBody>
      </p:sp>
      <p:pic>
        <p:nvPicPr>
          <p:cNvPr id="5" name="Picture 4">
            <a:extLst>
              <a:ext uri="{FF2B5EF4-FFF2-40B4-BE49-F238E27FC236}">
                <a16:creationId xmlns:a16="http://schemas.microsoft.com/office/drawing/2014/main" id="{8D222E55-8308-7B6E-0CAF-89E5F2034A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7000" y="3424420"/>
            <a:ext cx="7229788" cy="4307375"/>
          </a:xfrm>
          <a:prstGeom prst="rect">
            <a:avLst/>
          </a:prstGeom>
        </p:spPr>
      </p:pic>
      <p:pic>
        <p:nvPicPr>
          <p:cNvPr id="7" name="Picture 6">
            <a:extLst>
              <a:ext uri="{FF2B5EF4-FFF2-40B4-BE49-F238E27FC236}">
                <a16:creationId xmlns:a16="http://schemas.microsoft.com/office/drawing/2014/main" id="{1A7A7867-EAF7-A173-1F23-8B909E47B9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241" y="3424419"/>
            <a:ext cx="7229788" cy="4307375"/>
          </a:xfrm>
          <a:prstGeom prst="rect">
            <a:avLst/>
          </a:prstGeom>
        </p:spPr>
      </p:pic>
    </p:spTree>
    <p:extLst>
      <p:ext uri="{BB962C8B-B14F-4D97-AF65-F5344CB8AC3E}">
        <p14:creationId xmlns:p14="http://schemas.microsoft.com/office/powerpoint/2010/main" val="2321081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a:extLst>
            <a:ext uri="{FF2B5EF4-FFF2-40B4-BE49-F238E27FC236}">
              <a16:creationId xmlns:a16="http://schemas.microsoft.com/office/drawing/2014/main" id="{EFA68665-3341-B700-DB84-2FBA9C166DCF}"/>
            </a:ext>
          </a:extLst>
        </p:cNvPr>
        <p:cNvGrpSpPr/>
        <p:nvPr/>
      </p:nvGrpSpPr>
      <p:grpSpPr>
        <a:xfrm>
          <a:off x="0" y="0"/>
          <a:ext cx="0" cy="0"/>
          <a:chOff x="0" y="0"/>
          <a:chExt cx="0" cy="0"/>
        </a:xfrm>
      </p:grpSpPr>
      <p:sp>
        <p:nvSpPr>
          <p:cNvPr id="11" name="Freeform 11">
            <a:extLst>
              <a:ext uri="{FF2B5EF4-FFF2-40B4-BE49-F238E27FC236}">
                <a16:creationId xmlns:a16="http://schemas.microsoft.com/office/drawing/2014/main" id="{E1C0056B-6A92-8432-E8F9-6D96B23B2BCB}"/>
              </a:ext>
            </a:extLst>
          </p:cNvPr>
          <p:cNvSpPr/>
          <p:nvPr/>
        </p:nvSpPr>
        <p:spPr>
          <a:xfrm>
            <a:off x="0" y="-31011"/>
            <a:ext cx="5394514" cy="3879112"/>
          </a:xfrm>
          <a:custGeom>
            <a:avLst/>
            <a:gdLst/>
            <a:ahLst/>
            <a:cxnLst/>
            <a:rect l="l" t="t" r="r" b="b"/>
            <a:pathLst>
              <a:path w="5512114" h="5512114">
                <a:moveTo>
                  <a:pt x="0" y="0"/>
                </a:moveTo>
                <a:lnTo>
                  <a:pt x="5512114" y="0"/>
                </a:lnTo>
                <a:lnTo>
                  <a:pt x="5512114" y="5512114"/>
                </a:lnTo>
                <a:lnTo>
                  <a:pt x="0" y="551211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a:ln cap="sq">
            <a:noFill/>
            <a:prstDash val="solid"/>
            <a:miter/>
          </a:ln>
        </p:spPr>
      </p:sp>
      <p:pic>
        <p:nvPicPr>
          <p:cNvPr id="5" name="Picture 4">
            <a:extLst>
              <a:ext uri="{FF2B5EF4-FFF2-40B4-BE49-F238E27FC236}">
                <a16:creationId xmlns:a16="http://schemas.microsoft.com/office/drawing/2014/main" id="{C8A6549D-F6E2-4A32-AF92-56EAB68A36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761959"/>
            <a:ext cx="9979338" cy="5658141"/>
          </a:xfrm>
          <a:prstGeom prst="rect">
            <a:avLst/>
          </a:prstGeom>
        </p:spPr>
      </p:pic>
      <p:pic>
        <p:nvPicPr>
          <p:cNvPr id="8" name="Picture 7">
            <a:extLst>
              <a:ext uri="{FF2B5EF4-FFF2-40B4-BE49-F238E27FC236}">
                <a16:creationId xmlns:a16="http://schemas.microsoft.com/office/drawing/2014/main" id="{C95ADDCC-03F1-3DB1-09D6-3E26912B14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0800" y="2735342"/>
            <a:ext cx="7921938" cy="5658141"/>
          </a:xfrm>
          <a:prstGeom prst="rect">
            <a:avLst/>
          </a:prstGeom>
        </p:spPr>
      </p:pic>
    </p:spTree>
    <p:extLst>
      <p:ext uri="{BB962C8B-B14F-4D97-AF65-F5344CB8AC3E}">
        <p14:creationId xmlns:p14="http://schemas.microsoft.com/office/powerpoint/2010/main" val="1513237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2" name="Freeform 2"/>
          <p:cNvSpPr/>
          <p:nvPr/>
        </p:nvSpPr>
        <p:spPr>
          <a:xfrm>
            <a:off x="-2631558" y="8007067"/>
            <a:ext cx="5263116" cy="4114800"/>
          </a:xfrm>
          <a:custGeom>
            <a:avLst/>
            <a:gdLst/>
            <a:ahLst/>
            <a:cxnLst/>
            <a:rect l="l" t="t" r="r" b="b"/>
            <a:pathLst>
              <a:path w="5263116" h="4114800">
                <a:moveTo>
                  <a:pt x="0" y="0"/>
                </a:moveTo>
                <a:lnTo>
                  <a:pt x="5263116" y="0"/>
                </a:lnTo>
                <a:lnTo>
                  <a:pt x="5263116" y="4114800"/>
                </a:lnTo>
                <a:lnTo>
                  <a:pt x="0" y="4114800"/>
                </a:lnTo>
                <a:lnTo>
                  <a:pt x="0" y="0"/>
                </a:lnTo>
                <a:close/>
              </a:path>
            </a:pathLst>
          </a:custGeom>
          <a:blipFill>
            <a:blip r:embed="rId3" cstate="print">
              <a:extLst>
                <a:ext uri="{96DAC541-7B7A-43D3-8B79-37D633B846F1}">
                  <asvg:svgBlip xmlns:asvg="http://schemas.microsoft.com/office/drawing/2016/SVG/main" r:embed="rId4"/>
                </a:ext>
              </a:extLst>
            </a:blip>
            <a:stretch>
              <a:fillRect/>
            </a:stretch>
          </a:blipFill>
          <a:ln cap="sq">
            <a:noFill/>
            <a:prstDash val="solid"/>
            <a:miter/>
          </a:ln>
        </p:spPr>
      </p:sp>
      <p:sp>
        <p:nvSpPr>
          <p:cNvPr id="3" name="Freeform 3"/>
          <p:cNvSpPr/>
          <p:nvPr/>
        </p:nvSpPr>
        <p:spPr>
          <a:xfrm>
            <a:off x="15129567" y="-1714500"/>
            <a:ext cx="5263116" cy="4114800"/>
          </a:xfrm>
          <a:custGeom>
            <a:avLst/>
            <a:gdLst/>
            <a:ahLst/>
            <a:cxnLst/>
            <a:rect l="l" t="t" r="r" b="b"/>
            <a:pathLst>
              <a:path w="5263116" h="4114800">
                <a:moveTo>
                  <a:pt x="0" y="0"/>
                </a:moveTo>
                <a:lnTo>
                  <a:pt x="5263117" y="0"/>
                </a:lnTo>
                <a:lnTo>
                  <a:pt x="5263117" y="4114800"/>
                </a:lnTo>
                <a:lnTo>
                  <a:pt x="0" y="4114800"/>
                </a:lnTo>
                <a:lnTo>
                  <a:pt x="0" y="0"/>
                </a:lnTo>
                <a:close/>
              </a:path>
            </a:pathLst>
          </a:custGeom>
          <a:blipFill>
            <a:blip r:embed="rId3" cstate="print">
              <a:extLst>
                <a:ext uri="{96DAC541-7B7A-43D3-8B79-37D633B846F1}">
                  <asvg:svgBlip xmlns:asvg="http://schemas.microsoft.com/office/drawing/2016/SVG/main" r:embed="rId4"/>
                </a:ext>
              </a:extLst>
            </a:blip>
            <a:stretch>
              <a:fillRect/>
            </a:stretch>
          </a:blipFill>
          <a:ln cap="sq">
            <a:noFill/>
            <a:prstDash val="solid"/>
            <a:miter/>
          </a:ln>
        </p:spPr>
      </p:sp>
      <p:sp>
        <p:nvSpPr>
          <p:cNvPr id="17" name="TextBox 17"/>
          <p:cNvSpPr txBox="1"/>
          <p:nvPr/>
        </p:nvSpPr>
        <p:spPr>
          <a:xfrm>
            <a:off x="381000" y="876300"/>
            <a:ext cx="15544800" cy="1384995"/>
          </a:xfrm>
          <a:prstGeom prst="rect">
            <a:avLst/>
          </a:prstGeom>
        </p:spPr>
        <p:txBody>
          <a:bodyPr wrap="square" lIns="0" tIns="0" rIns="0" bIns="0" rtlCol="0" anchor="t">
            <a:spAutoFit/>
          </a:bodyPr>
          <a:lstStyle/>
          <a:p>
            <a:pPr marL="0" lvl="0" indent="0" algn="ctr">
              <a:lnSpc>
                <a:spcPts val="10800"/>
              </a:lnSpc>
              <a:spcBef>
                <a:spcPct val="0"/>
              </a:spcBef>
            </a:pPr>
            <a:r>
              <a:rPr lang="en-US" sz="8000" dirty="0">
                <a:solidFill>
                  <a:srgbClr val="423830"/>
                </a:solidFill>
                <a:latin typeface="Bookman Old Style" pitchFamily="18" charset="0"/>
              </a:rPr>
              <a:t>Customer service and support</a:t>
            </a:r>
          </a:p>
        </p:txBody>
      </p:sp>
      <p:sp>
        <p:nvSpPr>
          <p:cNvPr id="9" name="TextBox 7"/>
          <p:cNvSpPr txBox="1"/>
          <p:nvPr/>
        </p:nvSpPr>
        <p:spPr>
          <a:xfrm>
            <a:off x="539925" y="2866258"/>
            <a:ext cx="17221200" cy="5124480"/>
          </a:xfrm>
          <a:prstGeom prst="rect">
            <a:avLst/>
          </a:prstGeom>
        </p:spPr>
        <p:txBody>
          <a:bodyPr wrap="square" lIns="0" tIns="0" rIns="0" bIns="0" rtlCol="0" anchor="t">
            <a:spAutoFit/>
          </a:bodyPr>
          <a:lstStyle/>
          <a:p>
            <a:r>
              <a:rPr lang="en-US" sz="2400" dirty="0">
                <a:latin typeface="Bookman Old Style" panose="02050604050505020204" pitchFamily="18" charset="0"/>
                <a:cs typeface="Arial" panose="020B0604020202020204" pitchFamily="34" charset="0"/>
              </a:rPr>
              <a:t>Customer service and support in the context of furniture refers to the range of services provided by a furniture company to assist customers before, during, and after their purchase of furniture products. It encompasses various activities and interactions aimed at ensuring a positive and satisfactory experience for customers. This includes addressing inquiries, providing product information and recommendations, assisting with purchases, facilitating order tracking and delivery, handling returns and exchanges, and resolving any issues or concerns that may arise.</a:t>
            </a:r>
          </a:p>
          <a:p>
            <a:r>
              <a:rPr lang="en-US" sz="2400" dirty="0">
                <a:latin typeface="Bookman Old Style" panose="02050604050505020204" pitchFamily="18" charset="0"/>
                <a:cs typeface="Arial" panose="020B0604020202020204" pitchFamily="34" charset="0"/>
              </a:rPr>
              <a:t>In essence, customer service and support in furniture involves offering attentive and responsive assistance to customers throughout their journey, from the initial browsing stage to post-purchase support. It emphasizes the importance of building and maintaining strong customer relationships by delivering high-quality service, addressing customer needs and preferences, and striving to exceed expectations in every interaction. Effective customer service and support are crucial for fostering customer satisfaction, loyalty, and advocacy, ultimately contributing to the success and reputation of the furniture company.</a:t>
            </a:r>
          </a:p>
          <a:p>
            <a:br>
              <a:rPr lang="en-US" sz="2400" dirty="0"/>
            </a:br>
            <a:endParaRPr lang="en-US" sz="2100" u="none" strike="noStrike" dirty="0">
              <a:solidFill>
                <a:srgbClr val="423830"/>
              </a:solidFill>
              <a:latin typeface="TT Coral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2" name="Freeform 2"/>
          <p:cNvSpPr/>
          <p:nvPr/>
        </p:nvSpPr>
        <p:spPr>
          <a:xfrm rot="-5400000">
            <a:off x="5210782" y="959567"/>
            <a:ext cx="16438405" cy="13300164"/>
          </a:xfrm>
          <a:custGeom>
            <a:avLst/>
            <a:gdLst/>
            <a:ahLst/>
            <a:cxnLst/>
            <a:rect l="l" t="t" r="r" b="b"/>
            <a:pathLst>
              <a:path w="16438405" h="13300164">
                <a:moveTo>
                  <a:pt x="0" y="0"/>
                </a:moveTo>
                <a:lnTo>
                  <a:pt x="16438405" y="0"/>
                </a:lnTo>
                <a:lnTo>
                  <a:pt x="16438405" y="13300164"/>
                </a:lnTo>
                <a:lnTo>
                  <a:pt x="0" y="13300164"/>
                </a:lnTo>
                <a:lnTo>
                  <a:pt x="0" y="0"/>
                </a:lnTo>
                <a:close/>
              </a:path>
            </a:pathLst>
          </a:custGeom>
          <a:blipFill>
            <a:blip r:embed="rId2" cstate="print">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381000" y="800100"/>
            <a:ext cx="8191500" cy="2769989"/>
          </a:xfrm>
          <a:prstGeom prst="rect">
            <a:avLst/>
          </a:prstGeom>
        </p:spPr>
        <p:txBody>
          <a:bodyPr wrap="square" lIns="0" tIns="0" rIns="0" bIns="0" rtlCol="0" anchor="t">
            <a:spAutoFit/>
          </a:bodyPr>
          <a:lstStyle/>
          <a:p>
            <a:pPr marL="0" lvl="0" indent="0">
              <a:lnSpc>
                <a:spcPts val="10800"/>
              </a:lnSpc>
              <a:spcBef>
                <a:spcPct val="0"/>
              </a:spcBef>
            </a:pPr>
            <a:r>
              <a:rPr lang="en-US" sz="7000" dirty="0">
                <a:solidFill>
                  <a:srgbClr val="423830"/>
                </a:solidFill>
                <a:latin typeface="Bookman Old Style" pitchFamily="18" charset="0"/>
              </a:rPr>
              <a:t>Future plans and Innovations</a:t>
            </a:r>
            <a:endParaRPr lang="en-US" sz="7000" u="none" strike="noStrike" dirty="0">
              <a:solidFill>
                <a:srgbClr val="423830"/>
              </a:solidFill>
              <a:latin typeface="Bookman Old Style" pitchFamily="18" charset="0"/>
            </a:endParaRPr>
          </a:p>
        </p:txBody>
      </p:sp>
      <p:sp>
        <p:nvSpPr>
          <p:cNvPr id="7" name="TextBox 7"/>
          <p:cNvSpPr txBox="1"/>
          <p:nvPr/>
        </p:nvSpPr>
        <p:spPr>
          <a:xfrm>
            <a:off x="152400" y="3848083"/>
            <a:ext cx="10782300" cy="4744889"/>
          </a:xfrm>
          <a:prstGeom prst="rect">
            <a:avLst/>
          </a:prstGeom>
        </p:spPr>
        <p:txBody>
          <a:bodyPr wrap="square" lIns="0" tIns="0" rIns="0" bIns="0" rtlCol="0" anchor="t">
            <a:spAutoFit/>
          </a:bodyPr>
          <a:lstStyle/>
          <a:p>
            <a:pPr lvl="0">
              <a:lnSpc>
                <a:spcPts val="3696"/>
              </a:lnSpc>
            </a:pPr>
            <a:r>
              <a:rPr lang="en-US" sz="2400" dirty="0">
                <a:latin typeface="Söhne"/>
              </a:rPr>
              <a:t>"Many consumers struggle to find furniture that fits their style preferences, budget constraints, and space requirements. Traditional furniture shopping experiences are often time-consuming, overwhelming, and limited by geographical constraints. As a result, customers may feel frustrated and dissatisfied with their options, leading to abandoned purchases and lost sales opportunities. Our furniture app aims to streamline the furniture shopping process by offering a curated selection of furniture items, personalized recommendations, and innovative features such as augmented reality visualization to help users make informed purchasing decisions from the comfort of their homes."</a:t>
            </a:r>
            <a:r>
              <a:rPr lang="en-US" sz="2100" u="none" strike="noStrike" dirty="0">
                <a:latin typeface="TT Corals"/>
              </a:rPr>
              <a:t>.</a:t>
            </a:r>
          </a:p>
        </p:txBody>
      </p:sp>
      <p:grpSp>
        <p:nvGrpSpPr>
          <p:cNvPr id="8" name="Group 8"/>
          <p:cNvGrpSpPr/>
          <p:nvPr/>
        </p:nvGrpSpPr>
        <p:grpSpPr>
          <a:xfrm>
            <a:off x="9237561" y="-266700"/>
            <a:ext cx="10220986" cy="8592972"/>
            <a:chOff x="0" y="0"/>
            <a:chExt cx="13627981" cy="11457297"/>
          </a:xfrm>
        </p:grpSpPr>
        <p:pic>
          <p:nvPicPr>
            <p:cNvPr id="9" name="Picture 9"/>
            <p:cNvPicPr>
              <a:picLocks noChangeAspect="1"/>
            </p:cNvPicPr>
            <p:nvPr/>
          </p:nvPicPr>
          <p:blipFill>
            <a:blip r:embed="rId4" cstate="print"/>
            <a:srcRect l="17600" r="15474" b="15601"/>
            <a:stretch>
              <a:fillRect/>
            </a:stretch>
          </p:blipFill>
          <p:spPr>
            <a:xfrm>
              <a:off x="0" y="0"/>
              <a:ext cx="13627981" cy="11457297"/>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1F0E9"/>
        </a:solidFill>
        <a:effectLst/>
      </p:bgPr>
    </p:bg>
    <p:spTree>
      <p:nvGrpSpPr>
        <p:cNvPr id="1" name=""/>
        <p:cNvGrpSpPr/>
        <p:nvPr/>
      </p:nvGrpSpPr>
      <p:grpSpPr>
        <a:xfrm>
          <a:off x="0" y="0"/>
          <a:ext cx="0" cy="0"/>
          <a:chOff x="0" y="0"/>
          <a:chExt cx="0" cy="0"/>
        </a:xfrm>
      </p:grpSpPr>
      <p:sp>
        <p:nvSpPr>
          <p:cNvPr id="3" name="Freeform 3"/>
          <p:cNvSpPr/>
          <p:nvPr/>
        </p:nvSpPr>
        <p:spPr>
          <a:xfrm>
            <a:off x="-609600" y="5753100"/>
            <a:ext cx="3122374" cy="4533900"/>
          </a:xfrm>
          <a:custGeom>
            <a:avLst/>
            <a:gdLst/>
            <a:ahLst/>
            <a:cxnLst/>
            <a:rect l="l" t="t" r="r" b="b"/>
            <a:pathLst>
              <a:path w="6986266" h="8947977">
                <a:moveTo>
                  <a:pt x="0" y="0"/>
                </a:moveTo>
                <a:lnTo>
                  <a:pt x="6986266" y="0"/>
                </a:lnTo>
                <a:lnTo>
                  <a:pt x="6986266" y="8947976"/>
                </a:lnTo>
                <a:lnTo>
                  <a:pt x="0" y="8947976"/>
                </a:lnTo>
                <a:lnTo>
                  <a:pt x="0" y="0"/>
                </a:lnTo>
                <a:close/>
              </a:path>
            </a:pathLst>
          </a:custGeom>
          <a:blipFill>
            <a:blip r:embed="rId2" cstate="print"/>
            <a:stretch>
              <a:fillRect t="-17187"/>
            </a:stretch>
          </a:blipFill>
        </p:spPr>
      </p:sp>
      <p:sp>
        <p:nvSpPr>
          <p:cNvPr id="4" name="Freeform 4"/>
          <p:cNvSpPr/>
          <p:nvPr/>
        </p:nvSpPr>
        <p:spPr>
          <a:xfrm flipH="1">
            <a:off x="16110967" y="215123"/>
            <a:ext cx="2187919" cy="3346787"/>
          </a:xfrm>
          <a:custGeom>
            <a:avLst/>
            <a:gdLst/>
            <a:ahLst/>
            <a:cxnLst/>
            <a:rect l="l" t="t" r="r" b="b"/>
            <a:pathLst>
              <a:path w="5482971" h="6733924">
                <a:moveTo>
                  <a:pt x="5482971" y="0"/>
                </a:moveTo>
                <a:lnTo>
                  <a:pt x="0" y="0"/>
                </a:lnTo>
                <a:lnTo>
                  <a:pt x="0" y="6733925"/>
                </a:lnTo>
                <a:lnTo>
                  <a:pt x="5482971" y="6733925"/>
                </a:lnTo>
                <a:lnTo>
                  <a:pt x="5482971" y="0"/>
                </a:lnTo>
                <a:close/>
              </a:path>
            </a:pathLst>
          </a:custGeom>
          <a:blipFill>
            <a:blip r:embed="rId3" cstate="print"/>
            <a:stretch>
              <a:fillRect t="-22211"/>
            </a:stretch>
          </a:blipFill>
        </p:spPr>
      </p:sp>
      <p:sp>
        <p:nvSpPr>
          <p:cNvPr id="5" name="TextBox 5"/>
          <p:cNvSpPr txBox="1"/>
          <p:nvPr/>
        </p:nvSpPr>
        <p:spPr>
          <a:xfrm>
            <a:off x="4296902" y="638175"/>
            <a:ext cx="10714498" cy="2500685"/>
          </a:xfrm>
          <a:prstGeom prst="rect">
            <a:avLst/>
          </a:prstGeom>
        </p:spPr>
        <p:txBody>
          <a:bodyPr wrap="square" lIns="0" tIns="0" rIns="0" bIns="0" rtlCol="0" anchor="t">
            <a:spAutoFit/>
          </a:bodyPr>
          <a:lstStyle/>
          <a:p>
            <a:pPr marL="0" lvl="0" indent="0">
              <a:lnSpc>
                <a:spcPts val="19512"/>
              </a:lnSpc>
              <a:spcBef>
                <a:spcPct val="0"/>
              </a:spcBef>
            </a:pPr>
            <a:r>
              <a:rPr lang="en-US" sz="12000" spc="1398" dirty="0">
                <a:solidFill>
                  <a:srgbClr val="423830"/>
                </a:solidFill>
                <a:latin typeface="Bookman Old Style" pitchFamily="18" charset="0"/>
              </a:rPr>
              <a:t>References</a:t>
            </a:r>
          </a:p>
        </p:txBody>
      </p:sp>
      <p:sp>
        <p:nvSpPr>
          <p:cNvPr id="8" name="TextBox 7"/>
          <p:cNvSpPr txBox="1"/>
          <p:nvPr/>
        </p:nvSpPr>
        <p:spPr>
          <a:xfrm>
            <a:off x="2971800" y="3247947"/>
            <a:ext cx="10782300" cy="1423467"/>
          </a:xfrm>
          <a:prstGeom prst="rect">
            <a:avLst/>
          </a:prstGeom>
        </p:spPr>
        <p:txBody>
          <a:bodyPr wrap="square" lIns="0" tIns="0" rIns="0" bIns="0" rtlCol="0" anchor="t">
            <a:spAutoFit/>
          </a:bodyPr>
          <a:lstStyle/>
          <a:p>
            <a:pPr lvl="0">
              <a:lnSpc>
                <a:spcPts val="3696"/>
              </a:lnSpc>
            </a:pPr>
            <a:r>
              <a:rPr lang="en-US" sz="2400" dirty="0">
                <a:latin typeface="Söhne"/>
              </a:rPr>
              <a:t>Home center Application</a:t>
            </a:r>
          </a:p>
          <a:p>
            <a:pPr lvl="0">
              <a:lnSpc>
                <a:spcPts val="3696"/>
              </a:lnSpc>
            </a:pPr>
            <a:r>
              <a:rPr lang="en-US" sz="2400" u="none" strike="noStrike" dirty="0">
                <a:latin typeface="Söhne"/>
              </a:rPr>
              <a:t>ChatGPT</a:t>
            </a:r>
          </a:p>
          <a:p>
            <a:pPr lvl="0">
              <a:lnSpc>
                <a:spcPts val="3696"/>
              </a:lnSpc>
            </a:pPr>
            <a:r>
              <a:rPr lang="en-US" sz="2400" dirty="0">
                <a:latin typeface="Söhne"/>
              </a:rPr>
              <a:t>Youtube</a:t>
            </a:r>
            <a:endParaRPr lang="en-US" sz="2100" u="none" strike="noStrike" dirty="0">
              <a:latin typeface="TT Coral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4480</TotalTime>
  <Words>1468</Words>
  <Application>Microsoft Office PowerPoint</Application>
  <PresentationFormat>Custom</PresentationFormat>
  <Paragraphs>184</Paragraphs>
  <Slides>30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TT Corals</vt:lpstr>
      <vt:lpstr>Arial</vt:lpstr>
      <vt:lpstr>Bookman Old Style</vt:lpstr>
      <vt:lpstr>Söhne</vt:lpstr>
      <vt:lpstr>Times New Roman</vt:lpstr>
      <vt:lpstr>Calibri</vt:lpstr>
      <vt:lpstr>TT Corals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Modern Abstract Home Decor &amp; Furniture Catalog</dc:title>
  <dc:creator>jenish soni</dc:creator>
  <cp:lastModifiedBy>Vidhi Sorathia</cp:lastModifiedBy>
  <cp:revision>129</cp:revision>
  <dcterms:created xsi:type="dcterms:W3CDTF">2006-08-16T00:00:00Z</dcterms:created>
  <dcterms:modified xsi:type="dcterms:W3CDTF">2025-12-11T15:01:41Z</dcterms:modified>
  <dc:identifier>DAF_2erIlrM</dc:identifier>
</cp:coreProperties>
</file>